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731520" y="2286000"/>
            <a:ext cx="10698480" cy="1097280"/>
          </a:xfrm>
          <a:prstGeom prst="rect">
            <a:avLst/>
          </a:prstGeom>
          <a:noFill/>
        </p:spPr>
        <p:txBody>
          <a:bodyPr wrap="square">
            <a:spAutoFit/>
          </a:bodyPr>
          <a:lstStyle/>
          <a:p>
            <a:pPr algn="ctr">
              <a:defRPr sz="3600" b="1">
                <a:solidFill>
                  <a:srgbClr val="FFFFFF"/>
                </a:solidFill>
              </a:defRPr>
            </a:pPr>
            <a:r>
              <a:t>Korea Skin Health Industry Association (KSHIA)</a:t>
            </a:r>
          </a:p>
        </p:txBody>
      </p:sp>
      <p:sp>
        <p:nvSpPr>
          <p:cNvPr id="3" name="TextBox 2"/>
          <p:cNvSpPr txBox="1"/>
          <p:nvPr/>
        </p:nvSpPr>
        <p:spPr>
          <a:xfrm>
            <a:off x="731520" y="3657600"/>
            <a:ext cx="10698480" cy="731520"/>
          </a:xfrm>
          <a:prstGeom prst="rect">
            <a:avLst/>
          </a:prstGeom>
          <a:noFill/>
        </p:spPr>
        <p:txBody>
          <a:bodyPr wrap="none">
            <a:spAutoFit/>
          </a:bodyPr>
          <a:lstStyle/>
          <a:p>
            <a:pPr algn="ctr">
              <a:defRPr sz="1800">
                <a:solidFill>
                  <a:srgbClr val="BBCCDD"/>
                </a:solidFill>
              </a:defRPr>
            </a:pPr>
            <a:r>
              <a:t>KOREA SKIN HEALTH INDUSTRY ASSOCIATION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698480" cy="1097280"/>
          </a:xfrm>
          <a:prstGeom prst="rect">
            <a:avLst/>
          </a:prstGeom>
          <a:noFill/>
        </p:spPr>
        <p:txBody>
          <a:bodyPr wrap="square">
            <a:spAutoFit/>
          </a:bodyPr>
          <a:lstStyle/>
          <a:p>
            <a:pPr algn="l">
              <a:defRPr sz="2800" b="1">
                <a:solidFill>
                  <a:srgbClr val="1F4E79"/>
                </a:solidFill>
              </a:defRPr>
            </a:pPr>
            <a:r>
              <a:t>About the Association</a:t>
            </a:r>
          </a:p>
        </p:txBody>
      </p:sp>
      <p:sp>
        <p:nvSpPr>
          <p:cNvPr id="3" name="TextBox 2"/>
          <p:cNvSpPr txBox="1"/>
          <p:nvPr/>
        </p:nvSpPr>
        <p:spPr>
          <a:xfrm>
            <a:off x="731520" y="1371600"/>
            <a:ext cx="10698480" cy="5029200"/>
          </a:xfrm>
          <a:prstGeom prst="rect">
            <a:avLst/>
          </a:prstGeom>
          <a:noFill/>
        </p:spPr>
        <p:txBody>
          <a:bodyPr wrap="square">
            <a:spAutoFit/>
          </a:bodyPr>
          <a:lstStyle/>
          <a:p>
            <a:pPr>
              <a:spcAft>
                <a:spcPts val="600"/>
              </a:spcAft>
              <a:defRPr sz="1400">
                <a:solidFill>
                  <a:srgbClr val="333333"/>
                </a:solidFill>
              </a:defRPr>
            </a:pPr>
            <a:r>
              <a:t>The Korea Skin Health Industry Association (KSHIA) is an integrated platform involving medical institutions, universities and research institutions, cosmetic, health food, and medical device companies, as well as digital content and media providers. As a strategic bridge and integrated hub for Korea-China skin health industry cooperation, the Association connects markets, research, and policies to support the enhancement of global competitiveness for companies in both countries.</a:t>
            </a:r>
          </a:p>
          <a:p>
            <a:pPr>
              <a:spcAft>
                <a:spcPts val="400"/>
              </a:spcAft>
            </a:pPr>
          </a:p>
          <a:p>
            <a:pPr>
              <a:spcAft>
                <a:spcPts val="800"/>
              </a:spcAft>
              <a:defRPr sz="2000" b="1">
                <a:solidFill>
                  <a:srgbClr val="2E75B6"/>
                </a:solidFill>
              </a:defRPr>
            </a:pPr>
            <a:r>
              <a:t>Roles of the Association</a:t>
            </a:r>
          </a:p>
          <a:p>
            <a:pPr>
              <a:spcAft>
                <a:spcPts val="400"/>
              </a:spcAft>
            </a:pPr>
          </a:p>
          <a:p>
            <a:pPr>
              <a:spcAft>
                <a:spcPts val="400"/>
              </a:spcAft>
              <a:defRPr sz="1400">
                <a:solidFill>
                  <a:srgbClr val="333333"/>
                </a:solidFill>
              </a:defRPr>
            </a:pPr>
            <a:r>
              <a:t>  •  [{'heading': '01 Global Bridge', 'items': ['Connecting local medical institutions, universities, research institutions, and corporate networks in China', 'Supporting corporate innovation and technological development through linking industry-academia-research-based Korea-China national projects']}, {'heading': '02 Accurate Information Sharing', 'items': ["Prompt and accurate sharing of information on policy and regulatory changes in China's skin and skincare industry", 'Providing practical market information, including certification standards and market trends']}, {'heading': '03 R&amp;D Cooperation Support', 'items': ['Discovering innovative technologies through cooperation with authoritative expert groups in China', 'Supporting new product development through joint research projects with hospitals, universities, and research institutions']}, {'heading': '04 Localized Marketing', 'items': ['Supporting brand promotion through connections with major local media outlets in China', 'Connecting marketing with medical professionals and expert influencers active on major digital platforms']}]</a:t>
            </a:r>
          </a:p>
          <a:p>
            <a:pPr>
              <a:spcAft>
                <a:spcPts val="400"/>
              </a:spcAft>
            </a:pPr>
          </a:p>
          <a:p>
            <a:pPr>
              <a:spcAft>
                <a:spcPts val="800"/>
              </a:spcAft>
              <a:defRPr sz="2000" b="1">
                <a:solidFill>
                  <a:srgbClr val="2E75B6"/>
                </a:solidFill>
              </a:defRPr>
            </a:pPr>
            <a:r>
              <a:t>Organizational Chart</a:t>
            </a:r>
          </a:p>
          <a:p>
            <a:pPr>
              <a:spcAft>
                <a:spcPts val="400"/>
              </a:spcAft>
            </a:pPr>
          </a:p>
          <a:p>
            <a:pPr>
              <a:spcAft>
                <a:spcPts val="400"/>
              </a:spcAft>
              <a:defRPr sz="1400">
                <a:solidFill>
                  <a:srgbClr val="333333"/>
                </a:solidFill>
              </a:defRPr>
            </a:pPr>
            <a:r>
              <a:t>  •  ['Board of Directors', 'Advisory Group', 'Secretariat', 'Presidium', 'Advisory Committee Members', {'heading': 'Expert Group', 'items': ['Standing Committee Members', 'Committee Members', 'Young Committee Members']}, {'heading': 'Corporate Group', 'items': ['Standing Committee Members', 'Committee Members', 'Young Committee Members']}]</a:t>
            </a:r>
          </a:p>
        </p:txBody>
      </p:sp>
      <p:sp>
        <p:nvSpPr>
          <p:cNvPr id="4" name="TextBox 3"/>
          <p:cNvSpPr txBox="1"/>
          <p:nvPr/>
        </p:nvSpPr>
        <p:spPr>
          <a:xfrm>
            <a:off x="10972800" y="6400800"/>
            <a:ext cx="914400" cy="365760"/>
          </a:xfrm>
          <a:prstGeom prst="rect">
            <a:avLst/>
          </a:prstGeom>
          <a:noFill/>
        </p:spPr>
        <p:txBody>
          <a:bodyPr wrap="none">
            <a:spAutoFit/>
          </a:bodyPr>
          <a:lstStyle/>
          <a:p>
            <a:pPr algn="r">
              <a:defRPr sz="1000">
                <a:solidFill>
                  <a:srgbClr val="999999"/>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698480" cy="1097280"/>
          </a:xfrm>
          <a:prstGeom prst="rect">
            <a:avLst/>
          </a:prstGeom>
          <a:noFill/>
        </p:spPr>
        <p:txBody>
          <a:bodyPr wrap="square">
            <a:spAutoFit/>
          </a:bodyPr>
          <a:lstStyle/>
          <a:p>
            <a:pPr algn="l">
              <a:defRPr sz="2800" b="1">
                <a:solidFill>
                  <a:srgbClr val="1F4E79"/>
                </a:solidFill>
              </a:defRPr>
            </a:pPr>
            <a:r>
              <a:t>Association Experts</a:t>
            </a:r>
          </a:p>
        </p:txBody>
      </p:sp>
      <p:sp>
        <p:nvSpPr>
          <p:cNvPr id="3" name="TextBox 2"/>
          <p:cNvSpPr txBox="1"/>
          <p:nvPr/>
        </p:nvSpPr>
        <p:spPr>
          <a:xfrm>
            <a:off x="731520" y="1371600"/>
            <a:ext cx="10698480" cy="5029200"/>
          </a:xfrm>
          <a:prstGeom prst="rect">
            <a:avLst/>
          </a:prstGeom>
          <a:noFill/>
        </p:spPr>
        <p:txBody>
          <a:bodyPr wrap="square">
            <a:spAutoFit/>
          </a:bodyPr>
          <a:lstStyle/>
          <a:p>
            <a:pPr>
              <a:spcAft>
                <a:spcPts val="800"/>
              </a:spcAft>
              <a:defRPr sz="2000" b="1">
                <a:solidFill>
                  <a:srgbClr val="2E75B6"/>
                </a:solidFill>
              </a:defRPr>
            </a:pPr>
            <a:r>
              <a:t>## Korea Skin Health Industry Association (KSHIA)</a:t>
            </a:r>
          </a:p>
          <a:p>
            <a:pPr>
              <a:spcAft>
                <a:spcPts val="400"/>
              </a:spcAft>
            </a:pPr>
          </a:p>
          <a:p>
            <a:pPr>
              <a:spcAft>
                <a:spcPts val="800"/>
              </a:spcAft>
              <a:defRPr sz="2000" b="1">
                <a:solidFill>
                  <a:srgbClr val="2E75B6"/>
                </a:solidFill>
              </a:defRPr>
            </a:pPr>
            <a:r>
              <a:t>## 2026 SHANGHAI, China</a:t>
            </a:r>
          </a:p>
          <a:p>
            <a:pPr>
              <a:spcAft>
                <a:spcPts val="400"/>
              </a:spcAft>
            </a:pPr>
          </a:p>
          <a:p>
            <a:pPr>
              <a:spcAft>
                <a:spcPts val="800"/>
              </a:spcAft>
              <a:defRPr sz="2000" b="1">
                <a:solidFill>
                  <a:srgbClr val="2E75B6"/>
                </a:solidFill>
              </a:defRPr>
            </a:pPr>
            <a:r>
              <a:t>### Senior Advisor Academician Cheol-Beom Park</a:t>
            </a:r>
          </a:p>
          <a:p>
            <a:pPr>
              <a:spcAft>
                <a:spcPts val="400"/>
              </a:spcAft>
            </a:pPr>
          </a:p>
          <a:p>
            <a:pPr>
              <a:spcAft>
                <a:spcPts val="600"/>
              </a:spcAft>
              <a:defRPr sz="1400">
                <a:solidFill>
                  <a:srgbClr val="333333"/>
                </a:solidFill>
              </a:defRPr>
            </a:pPr>
            <a:r>
              <a:t>Professor, University of Toronto, Canada; International authority in the field of POLYMER FOAM; Academician, Chinese Academy of Engineering; Academician, European Academy of Sciences; Academician, National Academy of Engineering of Korea and Korean Academy of Science and Technology (KAST); Academician, Royal Society of Canada and Canadian Academy of Engineering; Honorary Member, International Engineering and Technology Institute (IETI); Member, American Association for the Advancement of Science (AAAS); Member, Engineering Institute of Canada (EICC), etc.</a:t>
            </a:r>
            <a:br/>
            <a:r>
              <a:t>40 patents, over 1000 journal articles, SCOPUS H-INDEX 106, 40,638 citations.</a:t>
            </a:r>
          </a:p>
          <a:p>
            <a:pPr>
              <a:spcAft>
                <a:spcPts val="400"/>
              </a:spcAft>
            </a:pPr>
          </a:p>
          <a:p>
            <a:pPr>
              <a:spcAft>
                <a:spcPts val="800"/>
              </a:spcAft>
              <a:defRPr sz="2000" b="1">
                <a:solidFill>
                  <a:srgbClr val="2E75B6"/>
                </a:solidFill>
              </a:defRPr>
            </a:pPr>
            <a:r>
              <a:t>### Advisor Professor Yan-Yun Ma</a:t>
            </a:r>
          </a:p>
          <a:p>
            <a:pPr>
              <a:spcAft>
                <a:spcPts val="400"/>
              </a:spcAft>
            </a:pPr>
          </a:p>
          <a:p>
            <a:pPr>
              <a:spcAft>
                <a:spcPts val="600"/>
              </a:spcAft>
              <a:defRPr sz="1400">
                <a:solidFill>
                  <a:srgbClr val="333333"/>
                </a:solidFill>
              </a:defRPr>
            </a:pPr>
            <a:r>
              <a:t>Professor, Institute of Biomedical Engineering and Technology Innovation, Fudan University; Chairman, Oriental-American Dermatology Research Institute; Director, Skin Research and Transformation Center, Changjiang Institute of Science, Fudan University; Director, Shanghai Skin Health Concept Verification Center; Standing Committee Member, Skin Health Committee, Chinese Association of Medical Education; Coordinator, Functional Cosmetics Collaboration; Secretary and Member, Cosmetics Group, Dermatology Branch, China Association of Chinese Medicine and Western Medicine Integration; Deputy Secretary-General, Functional Cosmetics Branch, China Association of Plastic and Aesthetic Medicine; Secretary-General, Cosmetics Professional Committee, Shanghai Medical Industry Association, etc.</a:t>
            </a:r>
            <a:br/>
            <a:r>
              <a:t>100 SCI-indexed publications, over 10 invention patents.</a:t>
            </a:r>
          </a:p>
          <a:p>
            <a:pPr>
              <a:spcAft>
                <a:spcPts val="400"/>
              </a:spcAft>
            </a:pPr>
          </a:p>
          <a:p>
            <a:pPr>
              <a:spcAft>
                <a:spcPts val="800"/>
              </a:spcAft>
              <a:defRPr sz="2000" b="1">
                <a:solidFill>
                  <a:srgbClr val="2E75B6"/>
                </a:solidFill>
              </a:defRPr>
            </a:pPr>
            <a:r>
              <a:t>### Advisor Professor Xin Li</a:t>
            </a:r>
          </a:p>
          <a:p>
            <a:pPr>
              <a:spcAft>
                <a:spcPts val="400"/>
              </a:spcAft>
            </a:pPr>
          </a:p>
          <a:p>
            <a:pPr>
              <a:spcAft>
                <a:spcPts val="600"/>
              </a:spcAft>
              <a:defRPr sz="1400">
                <a:solidFill>
                  <a:srgbClr val="333333"/>
                </a:solidFill>
              </a:defRPr>
            </a:pPr>
            <a:r>
              <a:t>Director, Dermatology and Aesthetic Medicine Center, Shanghai Yueyang Hospital of Integrated Traditional Chinese and Western Medicine; Deputy Director, Dermatology Research Institute, Shanghai Academy of Traditional Chinese Medicine; Vice Chairman, Youth Committee, China Association of Chinese Medicine; Chairman, Skin Health Professional Committee, Shanghai Medical Industry Association; Standing Committee Member and Secretary, Professional Committee of Dermatology and Venereology, China Association of Chinese Medicine and Western Medicine Integration, etc.</a:t>
            </a:r>
            <a:br/>
            <a:r>
              <a:t>Ranked 21st in academic influence in the field of Dermatology in China; Selected as one of the World's Top 2% Scientists. 52 SCI-indexed publications (First or Corresponding Author, cumulative IF &gt; 350); Principal Investigator for 11 research projects, including those funded by the National Natural Science Foundation of China.</a:t>
            </a:r>
          </a:p>
          <a:p>
            <a:pPr>
              <a:spcAft>
                <a:spcPts val="400"/>
              </a:spcAft>
            </a:pPr>
          </a:p>
          <a:p>
            <a:pPr>
              <a:spcAft>
                <a:spcPts val="800"/>
              </a:spcAft>
              <a:defRPr sz="2000" b="1">
                <a:solidFill>
                  <a:srgbClr val="2E75B6"/>
                </a:solidFill>
              </a:defRPr>
            </a:pPr>
            <a:r>
              <a:t>### Standing Committee Member Professor Yong-Xian Lai</a:t>
            </a:r>
          </a:p>
          <a:p>
            <a:pPr>
              <a:spcAft>
                <a:spcPts val="400"/>
              </a:spcAft>
            </a:pPr>
          </a:p>
          <a:p>
            <a:pPr>
              <a:spcAft>
                <a:spcPts val="600"/>
              </a:spcAft>
              <a:defRPr sz="1400">
                <a:solidFill>
                  <a:srgbClr val="333333"/>
                </a:solidFill>
              </a:defRPr>
            </a:pPr>
            <a:r>
              <a:t>Chief, Department of Dermatologic Surgery, Shanghai Dermatology Hospital / Tongji University Affiliated Hospital; Director, Hair Diagnosis Center; Deputy Director, Skin Tumor Diagnosis Center; Expert, Ministry of Science and Technology of China; Deputy Head, Hair Disease Group, Professional Committee of Dermatologic Rehabilitation, Chinese Association of Rehabilitation Medicine; Secretary, Hairology Group, Professional Committee of Dermatology and Venereology, China Association of Chinese Medicine and Western Medicine Integration; Member, Hair Medicine and Scalp Health Management Group, Professional Committee of Dermatology, China Association of Non-Public Medical Institutions, etc.</a:t>
            </a:r>
            <a:br/>
            <a:r>
              <a:t>Visiting Scholar, University of Zurich, Switzerland; Second Prize for Science and Technology Progress Award, Shanghai Municipality; Principal Investigator for multiple research projects; Over 10 SCI-indexed publications.</a:t>
            </a:r>
          </a:p>
          <a:p>
            <a:pPr>
              <a:spcAft>
                <a:spcPts val="400"/>
              </a:spcAft>
            </a:pPr>
          </a:p>
          <a:p>
            <a:pPr>
              <a:spcAft>
                <a:spcPts val="800"/>
              </a:spcAft>
              <a:defRPr sz="2000" b="1">
                <a:solidFill>
                  <a:srgbClr val="2E75B6"/>
                </a:solidFill>
              </a:defRPr>
            </a:pPr>
            <a:r>
              <a:t>### Jae-Kyo Lee, Research Committee Chairman</a:t>
            </a:r>
          </a:p>
          <a:p>
            <a:pPr>
              <a:spcAft>
                <a:spcPts val="400"/>
              </a:spcAft>
            </a:pPr>
          </a:p>
          <a:p>
            <a:pPr>
              <a:spcAft>
                <a:spcPts val="600"/>
              </a:spcAft>
              <a:defRPr sz="1400">
                <a:solidFill>
                  <a:srgbClr val="333333"/>
                </a:solidFill>
              </a:defRPr>
            </a:pPr>
            <a:r>
              <a:t>Research Fellow, Dana-Farber Cancer Institute / Harvard Medical School; Former President, New England Bioscience Society (NEBS).</a:t>
            </a:r>
            <a:br/>
            <a:r>
              <a:t>Research in skin barrier function, sphingolipids, and ceramides, specifically elucidating the mechanism by which ALKALINE CERAMIDASE 1 maintains hair follicle stem cell homeostasis, thereby inhibiting premature hair loss; Technology transfer of cancer diagnostic biomarker technology to companies, etc.</a:t>
            </a:r>
          </a:p>
          <a:p>
            <a:pPr>
              <a:spcAft>
                <a:spcPts val="400"/>
              </a:spcAft>
            </a:pPr>
          </a:p>
          <a:p>
            <a:pPr>
              <a:spcAft>
                <a:spcPts val="800"/>
              </a:spcAft>
              <a:defRPr sz="2000" b="1">
                <a:solidFill>
                  <a:srgbClr val="2E75B6"/>
                </a:solidFill>
              </a:defRPr>
            </a:pPr>
            <a:r>
              <a:t>### Kang-Gun Kim, International Exchange Committee Chairman</a:t>
            </a:r>
          </a:p>
          <a:p>
            <a:pPr>
              <a:spcAft>
                <a:spcPts val="400"/>
              </a:spcAft>
            </a:pPr>
          </a:p>
          <a:p>
            <a:pPr>
              <a:spcAft>
                <a:spcPts val="600"/>
              </a:spcAft>
              <a:defRPr sz="1400">
                <a:solidFill>
                  <a:srgbClr val="333333"/>
                </a:solidFill>
              </a:defRPr>
            </a:pPr>
            <a:r>
              <a:t>Research Fellow, Seoul National University Medical Research Institute; Postdoctoral Researcher, University of Oxford Medical School.</a:t>
            </a:r>
            <a:br/>
            <a:r>
              <a:t>Graduate Student President, Oxford University Korean Student Association (OUKS); President, Korean Researchers in UK (KRUK); Co-Representative, Korean UK Life Scientists Association (KULSA); Chairman, Committee for World Korean Next Generation Leaders Convention (FLC), Overseas Koreans Agency, etc.</a:t>
            </a:r>
            <a:br/>
            <a:r>
              <a:t>Established and operated academic, industrial, and medical networks; Facilitated collaborations with global industries such as AstraZeneca, Roche, and Google DeepMind, as well as major NHS hospitals and research teams from Oxford and Cambridge Universities.</a:t>
            </a:r>
          </a:p>
        </p:txBody>
      </p:sp>
      <p:sp>
        <p:nvSpPr>
          <p:cNvPr id="4" name="TextBox 3"/>
          <p:cNvSpPr txBox="1"/>
          <p:nvPr/>
        </p:nvSpPr>
        <p:spPr>
          <a:xfrm>
            <a:off x="10972800" y="6400800"/>
            <a:ext cx="914400" cy="365760"/>
          </a:xfrm>
          <a:prstGeom prst="rect">
            <a:avLst/>
          </a:prstGeom>
          <a:noFill/>
        </p:spPr>
        <p:txBody>
          <a:bodyPr wrap="none">
            <a:spAutoFit/>
          </a:bodyPr>
          <a:lstStyle/>
          <a:p>
            <a:pPr algn="r">
              <a:defRPr sz="1000">
                <a:solidFill>
                  <a:srgbClr val="999999"/>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698480" cy="1097280"/>
          </a:xfrm>
          <a:prstGeom prst="rect">
            <a:avLst/>
          </a:prstGeom>
          <a:noFill/>
        </p:spPr>
        <p:txBody>
          <a:bodyPr wrap="square">
            <a:spAutoFit/>
          </a:bodyPr>
          <a:lstStyle/>
          <a:p>
            <a:pPr algn="l">
              <a:defRPr sz="2800" b="1">
                <a:solidFill>
                  <a:srgbClr val="1F4E79"/>
                </a:solidFill>
              </a:defRPr>
            </a:pPr>
            <a:r>
              <a:t>Association Members</a:t>
            </a:r>
          </a:p>
        </p:txBody>
      </p:sp>
      <p:sp>
        <p:nvSpPr>
          <p:cNvPr id="3" name="TextBox 2"/>
          <p:cNvSpPr txBox="1"/>
          <p:nvPr/>
        </p:nvSpPr>
        <p:spPr>
          <a:xfrm>
            <a:off x="731520" y="1371600"/>
            <a:ext cx="10698480" cy="5029200"/>
          </a:xfrm>
          <a:prstGeom prst="rect">
            <a:avLst/>
          </a:prstGeom>
          <a:noFill/>
        </p:spPr>
        <p:txBody>
          <a:bodyPr wrap="square">
            <a:spAutoFit/>
          </a:bodyPr>
          <a:lstStyle/>
          <a:p>
            <a:pPr>
              <a:spcAft>
                <a:spcPts val="600"/>
              </a:spcAft>
              <a:defRPr sz="1400">
                <a:solidFill>
                  <a:srgbClr val="333333"/>
                </a:solidFill>
              </a:defRPr>
            </a:pPr>
            <a:r>
              <a:t>Korea Skin Health Industry Association (KSHIA)</a:t>
            </a:r>
            <a:br/>
            <a:r>
              <a:t>2026 SHANGHAI, China</a:t>
            </a:r>
          </a:p>
          <a:p>
            <a:pPr>
              <a:spcAft>
                <a:spcPts val="400"/>
              </a:spcAft>
            </a:pPr>
          </a:p>
          <a:p>
            <a:pPr>
              <a:spcAft>
                <a:spcPts val="600"/>
              </a:spcAft>
              <a:defRPr sz="1300">
                <a:solidFill>
                  <a:srgbClr val="333333"/>
                </a:solidFill>
              </a:defRPr>
            </a:pPr>
            <a:r>
              <a:t>Cheol-Beom Park, Senior Advisor</a:t>
            </a:r>
            <a:br/>
            <a:r>
              <a:t>Academician, Chinese Academy of Engineering</a:t>
            </a:r>
          </a:p>
          <a:p>
            <a:pPr>
              <a:spcAft>
                <a:spcPts val="400"/>
              </a:spcAft>
            </a:pPr>
          </a:p>
          <a:p>
            <a:pPr>
              <a:spcAft>
                <a:spcPts val="600"/>
              </a:spcAft>
              <a:defRPr sz="1300">
                <a:solidFill>
                  <a:srgbClr val="333333"/>
                </a:solidFill>
              </a:defRPr>
            </a:pPr>
            <a:r>
              <a:t>Li Xin, Advisor</a:t>
            </a:r>
            <a:br/>
            <a:r>
              <a:t>Director, Center for Dermatology and Cosmetology, Affiliated Yueyang Hospital of Integrated Traditional Chinese and Western Medicine, Shanghai University of Traditional Chinese Medicine</a:t>
            </a:r>
          </a:p>
          <a:p>
            <a:pPr>
              <a:spcAft>
                <a:spcPts val="400"/>
              </a:spcAft>
            </a:pPr>
          </a:p>
          <a:p>
            <a:pPr>
              <a:spcAft>
                <a:spcPts val="600"/>
              </a:spcAft>
              <a:defRPr sz="1300">
                <a:solidFill>
                  <a:srgbClr val="333333"/>
                </a:solidFill>
              </a:defRPr>
            </a:pPr>
            <a:r>
              <a:t>Ma Xuanyun, Advisor</a:t>
            </a:r>
            <a:br/>
            <a:r>
              <a:t>Professor, School of Biomedical Engineering, Fudan University</a:t>
            </a:r>
          </a:p>
          <a:p>
            <a:pPr>
              <a:spcAft>
                <a:spcPts val="400"/>
              </a:spcAft>
            </a:pPr>
          </a:p>
          <a:p>
            <a:pPr>
              <a:spcAft>
                <a:spcPts val="600"/>
              </a:spcAft>
              <a:defRPr sz="1300">
                <a:solidFill>
                  <a:srgbClr val="333333"/>
                </a:solidFill>
              </a:defRPr>
            </a:pPr>
            <a:r>
              <a:t>Jae-Seok Kim, Advisor</a:t>
            </a:r>
            <a:br/>
            <a:r>
              <a:t>Senior Vice Chairman, Korean Chamber of Commerce in Shanghai (Korean Association in Shanghai)</a:t>
            </a:r>
          </a:p>
          <a:p>
            <a:pPr>
              <a:spcAft>
                <a:spcPts val="400"/>
              </a:spcAft>
            </a:pPr>
          </a:p>
          <a:p>
            <a:pPr>
              <a:spcAft>
                <a:spcPts val="600"/>
              </a:spcAft>
              <a:defRPr sz="1300">
                <a:solidFill>
                  <a:srgbClr val="333333"/>
                </a:solidFill>
              </a:defRPr>
            </a:pPr>
            <a:r>
              <a:t>Hyeon-A Son, President</a:t>
            </a:r>
            <a:br/>
            <a:r>
              <a:t>China Country Manager, CMS LAB</a:t>
            </a:r>
          </a:p>
          <a:p>
            <a:pPr>
              <a:spcAft>
                <a:spcPts val="400"/>
              </a:spcAft>
            </a:pPr>
          </a:p>
          <a:p>
            <a:pPr>
              <a:spcAft>
                <a:spcPts val="600"/>
              </a:spcAft>
              <a:defRPr sz="1300">
                <a:solidFill>
                  <a:srgbClr val="333333"/>
                </a:solidFill>
              </a:defRPr>
            </a:pPr>
            <a:r>
              <a:t>Wang Yi, Executive Vice President</a:t>
            </a:r>
            <a:br/>
            <a:r>
              <a:t>Deputy Director, Center for Dermatology and Cosmetology, Affiliated Yueyang Hospital of Integrated Traditional Chinese and Western Medicine, Shanghai University of Traditional Chinese Medicine</a:t>
            </a:r>
          </a:p>
          <a:p>
            <a:pPr>
              <a:spcAft>
                <a:spcPts val="400"/>
              </a:spcAft>
            </a:pPr>
          </a:p>
          <a:p>
            <a:pPr>
              <a:spcAft>
                <a:spcPts val="600"/>
              </a:spcAft>
              <a:defRPr sz="1300">
                <a:solidFill>
                  <a:srgbClr val="333333"/>
                </a:solidFill>
              </a:defRPr>
            </a:pPr>
            <a:r>
              <a:t>Zhang Xiaofeng, Executive Vice President</a:t>
            </a:r>
            <a:br/>
            <a:r>
              <a:t>Director, Department of Dermatology, Shanghai First People's Hospital</a:t>
            </a:r>
          </a:p>
          <a:p>
            <a:pPr>
              <a:spcAft>
                <a:spcPts val="400"/>
              </a:spcAft>
            </a:pPr>
          </a:p>
          <a:p>
            <a:pPr>
              <a:spcAft>
                <a:spcPts val="600"/>
              </a:spcAft>
              <a:defRPr sz="1300">
                <a:solidFill>
                  <a:srgbClr val="333333"/>
                </a:solidFill>
              </a:defRPr>
            </a:pPr>
            <a:r>
              <a:t>Seong-Hwi Lee, Executive Vice President</a:t>
            </a:r>
            <a:br/>
            <a:r>
              <a:t>Deputy Director, Department of Dermatology, Shanghai First People's Hospital</a:t>
            </a:r>
          </a:p>
          <a:p>
            <a:pPr>
              <a:spcAft>
                <a:spcPts val="400"/>
              </a:spcAft>
            </a:pPr>
          </a:p>
          <a:p>
            <a:pPr>
              <a:spcAft>
                <a:spcPts val="600"/>
              </a:spcAft>
              <a:defRPr sz="1300">
                <a:solidFill>
                  <a:srgbClr val="333333"/>
                </a:solidFill>
              </a:defRPr>
            </a:pPr>
            <a:r>
              <a:t>Seung-Yeon Park, Executive Vice President</a:t>
            </a:r>
            <a:br/>
            <a:r>
              <a:t>Deputy Director, Department of Dermatology, Shanghai First People's Hospital</a:t>
            </a:r>
          </a:p>
          <a:p>
            <a:pPr>
              <a:spcAft>
                <a:spcPts val="400"/>
              </a:spcAft>
            </a:pPr>
          </a:p>
          <a:p>
            <a:pPr>
              <a:spcAft>
                <a:spcPts val="600"/>
              </a:spcAft>
              <a:defRPr sz="1300">
                <a:solidFill>
                  <a:srgbClr val="333333"/>
                </a:solidFill>
              </a:defRPr>
            </a:pPr>
            <a:r>
              <a:t>Seok-Kyung Hong, Secretary General &amp; Vice President</a:t>
            </a:r>
            <a:br/>
            <a:r>
              <a:t>Physician / Assistant Professor, Center for Dermatology and Cosmetology, Affiliated Yueyang Hospital of Integrated Traditional Chinese and Western Medicine, Shanghai University of Traditional Chinese Medicine</a:t>
            </a:r>
          </a:p>
          <a:p>
            <a:pPr>
              <a:spcAft>
                <a:spcPts val="400"/>
              </a:spcAft>
            </a:pPr>
          </a:p>
          <a:p>
            <a:pPr>
              <a:spcAft>
                <a:spcPts val="600"/>
              </a:spcAft>
              <a:defRPr sz="1300">
                <a:solidFill>
                  <a:srgbClr val="333333"/>
                </a:solidFill>
              </a:defRPr>
            </a:pPr>
            <a:r>
              <a:t>Jeong-Suk Ji, Vice President</a:t>
            </a:r>
            <a:br/>
            <a:r>
              <a:t>General Manager, Construction Business Division, PELEY Group</a:t>
            </a:r>
          </a:p>
          <a:p>
            <a:pPr>
              <a:spcAft>
                <a:spcPts val="400"/>
              </a:spcAft>
            </a:pPr>
          </a:p>
          <a:p>
            <a:pPr>
              <a:spcAft>
                <a:spcPts val="600"/>
              </a:spcAft>
              <a:defRPr sz="1300">
                <a:solidFill>
                  <a:srgbClr val="333333"/>
                </a:solidFill>
              </a:defRPr>
            </a:pPr>
            <a:r>
              <a:t>Seong-Su Kim, Vice President</a:t>
            </a:r>
            <a:br/>
            <a:r>
              <a:t>Director, Efficacy Evaluation Center, Wuxi Kolmar</a:t>
            </a:r>
          </a:p>
          <a:p>
            <a:pPr>
              <a:spcAft>
                <a:spcPts val="400"/>
              </a:spcAft>
            </a:pPr>
          </a:p>
          <a:p>
            <a:pPr>
              <a:spcAft>
                <a:spcPts val="600"/>
              </a:spcAft>
              <a:defRPr sz="1300">
                <a:solidFill>
                  <a:srgbClr val="333333"/>
                </a:solidFill>
              </a:defRPr>
            </a:pPr>
            <a:r>
              <a:t>Ye-Won Jeon, Vice President</a:t>
            </a:r>
            <a:br/>
            <a:r>
              <a:t>Director, Jinseona Global</a:t>
            </a:r>
          </a:p>
          <a:p>
            <a:pPr>
              <a:spcAft>
                <a:spcPts val="400"/>
              </a:spcAft>
            </a:pPr>
          </a:p>
          <a:p>
            <a:pPr>
              <a:spcAft>
                <a:spcPts val="600"/>
              </a:spcAft>
              <a:defRPr sz="1300">
                <a:solidFill>
                  <a:srgbClr val="333333"/>
                </a:solidFill>
              </a:defRPr>
            </a:pPr>
            <a:r>
              <a:t>Yong-Wi Choi, Standing Committee Member</a:t>
            </a:r>
            <a:br/>
            <a:r>
              <a:t>Deputy Director, Center for Dermatology and Cosmetology, Affiliated Yueyang Hospital of Integrated Traditional Chinese and Western Medicine, Shanghai University of Traditional Chinese Medicine</a:t>
            </a:r>
          </a:p>
          <a:p>
            <a:pPr>
              <a:spcAft>
                <a:spcPts val="400"/>
              </a:spcAft>
            </a:pPr>
          </a:p>
          <a:p>
            <a:pPr>
              <a:spcAft>
                <a:spcPts val="600"/>
              </a:spcAft>
              <a:defRPr sz="1300">
                <a:solidFill>
                  <a:srgbClr val="333333"/>
                </a:solidFill>
              </a:defRPr>
            </a:pPr>
            <a:r>
              <a:t>Sun Xiaoying, Committee Member</a:t>
            </a:r>
            <a:br/>
            <a:r>
              <a:t>Associate Professor, Institute of Dermatology, Affiliated Yueyang Hospital of Integrated Traditional Chinese and Western Medicine, Shanghai University of Traditional Chinese Medicine</a:t>
            </a:r>
          </a:p>
          <a:p>
            <a:pPr>
              <a:spcAft>
                <a:spcPts val="400"/>
              </a:spcAft>
            </a:pPr>
          </a:p>
          <a:p>
            <a:pPr>
              <a:spcAft>
                <a:spcPts val="600"/>
              </a:spcAft>
              <a:defRPr sz="1300">
                <a:solidFill>
                  <a:srgbClr val="333333"/>
                </a:solidFill>
              </a:defRPr>
            </a:pPr>
            <a:r>
              <a:t>Zhou Yazhu, Committee Member</a:t>
            </a:r>
            <a:br/>
            <a:r>
              <a:t>Associate Professor, Institute of Dermatology, Affiliated Yueyang Hospital of Integrated Traditional Chinese and Western Medicine, Shanghai University of Traditional Chinese Medicine</a:t>
            </a:r>
          </a:p>
          <a:p>
            <a:pPr>
              <a:spcAft>
                <a:spcPts val="400"/>
              </a:spcAft>
            </a:pPr>
          </a:p>
          <a:p>
            <a:pPr>
              <a:spcAft>
                <a:spcPts val="600"/>
              </a:spcAft>
              <a:defRPr sz="1300">
                <a:solidFill>
                  <a:srgbClr val="333333"/>
                </a:solidFill>
              </a:defRPr>
            </a:pPr>
            <a:r>
              <a:t>Li Fen, Committee Member</a:t>
            </a:r>
            <a:br/>
            <a:r>
              <a:t>Associate Professor, Center for Dermatology and Cosmetology, Affiliated Yueyang Hospital of Integrated Traditional Chinese and Western Medicine, Shanghai University of Traditional Chinese Medicine</a:t>
            </a:r>
          </a:p>
          <a:p>
            <a:pPr>
              <a:spcAft>
                <a:spcPts val="400"/>
              </a:spcAft>
            </a:pPr>
          </a:p>
          <a:p>
            <a:pPr>
              <a:spcAft>
                <a:spcPts val="600"/>
              </a:spcAft>
              <a:defRPr sz="1300">
                <a:solidFill>
                  <a:srgbClr val="333333"/>
                </a:solidFill>
              </a:defRPr>
            </a:pPr>
            <a:r>
              <a:t>Wang Yongyu, Committee Member</a:t>
            </a:r>
            <a:br/>
            <a:r>
              <a:t>Deputy Director, Center for Dermatology and Cosmetology, Affiliated Yueyang Hospital of Integrated Traditional Chinese and Western Medicine, Shanghai University of Traditional Chinese Medicine</a:t>
            </a:r>
          </a:p>
          <a:p>
            <a:pPr>
              <a:spcAft>
                <a:spcPts val="400"/>
              </a:spcAft>
            </a:pPr>
          </a:p>
          <a:p>
            <a:pPr>
              <a:spcAft>
                <a:spcPts val="600"/>
              </a:spcAft>
              <a:defRPr sz="1300">
                <a:solidFill>
                  <a:srgbClr val="333333"/>
                </a:solidFill>
              </a:defRPr>
            </a:pPr>
            <a:r>
              <a:t>Luo Wei, Committee Member</a:t>
            </a:r>
            <a:br/>
            <a:r>
              <a:t>Assistant Professor, Institute of Dermatology, Affiliated Yueyang Hospital of Integrated Traditional Chinese and Western Medicine, Shanghai University of Traditional Chinese Medicine</a:t>
            </a:r>
          </a:p>
          <a:p>
            <a:pPr>
              <a:spcAft>
                <a:spcPts val="400"/>
              </a:spcAft>
            </a:pPr>
          </a:p>
          <a:p>
            <a:pPr>
              <a:spcAft>
                <a:spcPts val="600"/>
              </a:spcAft>
              <a:defRPr sz="1300">
                <a:solidFill>
                  <a:srgbClr val="333333"/>
                </a:solidFill>
              </a:defRPr>
            </a:pPr>
            <a:r>
              <a:t>Mun-Sun Hong, Committee Member</a:t>
            </a:r>
            <a:br/>
            <a:r>
              <a:t>Postdoctoral Researcher, Luan City Hospital of Traditional Chinese Medicine - Shanghai University of Traditional Chinese Medicine</a:t>
            </a:r>
          </a:p>
          <a:p>
            <a:pPr>
              <a:spcAft>
                <a:spcPts val="400"/>
              </a:spcAft>
            </a:pPr>
          </a:p>
          <a:p>
            <a:pPr>
              <a:spcAft>
                <a:spcPts val="600"/>
              </a:spcAft>
              <a:defRPr sz="1300">
                <a:solidFill>
                  <a:srgbClr val="333333"/>
                </a:solidFill>
              </a:defRPr>
            </a:pPr>
            <a:r>
              <a:t>Hee-Jeong Cha, Committee Member</a:t>
            </a:r>
            <a:br/>
            <a:r>
              <a:t>Director, Shanghai Dora Medical Clinic</a:t>
            </a:r>
          </a:p>
          <a:p>
            <a:pPr>
              <a:spcAft>
                <a:spcPts val="400"/>
              </a:spcAft>
            </a:pPr>
          </a:p>
          <a:p>
            <a:pPr>
              <a:spcAft>
                <a:spcPts val="600"/>
              </a:spcAft>
              <a:defRPr sz="1300">
                <a:solidFill>
                  <a:srgbClr val="333333"/>
                </a:solidFill>
              </a:defRPr>
            </a:pPr>
            <a:r>
              <a:t>Seo-Yeon Kim, Committee Member</a:t>
            </a:r>
            <a:br/>
            <a:r>
              <a:t>Resident Physician, Center for Dermatology and Cosmetology, Affiliated Yueyang Hospital of Integrated Traditional Chinese and Western Medicine, Shanghai University of Traditional Chinese Medicine</a:t>
            </a:r>
          </a:p>
          <a:p>
            <a:pPr>
              <a:spcAft>
                <a:spcPts val="400"/>
              </a:spcAft>
            </a:pPr>
          </a:p>
          <a:p>
            <a:pPr>
              <a:spcAft>
                <a:spcPts val="600"/>
              </a:spcAft>
              <a:defRPr sz="1300">
                <a:solidFill>
                  <a:srgbClr val="333333"/>
                </a:solidFill>
              </a:defRPr>
            </a:pPr>
            <a:r>
              <a:t>Yang Dan, Committee Member</a:t>
            </a:r>
            <a:br/>
            <a:r>
              <a:t>Researcher, Cosmetic Research Center, Tongji University Affiliated Dermatology Hospital</a:t>
            </a:r>
          </a:p>
          <a:p>
            <a:pPr>
              <a:spcAft>
                <a:spcPts val="400"/>
              </a:spcAft>
            </a:pPr>
          </a:p>
          <a:p>
            <a:pPr>
              <a:spcAft>
                <a:spcPts val="600"/>
              </a:spcAft>
              <a:defRPr sz="1300">
                <a:solidFill>
                  <a:srgbClr val="333333"/>
                </a:solidFill>
              </a:defRPr>
            </a:pPr>
            <a:r>
              <a:t>Xing Meng, Committee Member</a:t>
            </a:r>
            <a:br/>
            <a:r>
              <a:t>Attending Physician, Department of Dermatology, Shanxi Provincial Hospital of Traditional Chinese Medicine</a:t>
            </a:r>
          </a:p>
          <a:p>
            <a:pPr>
              <a:spcAft>
                <a:spcPts val="400"/>
              </a:spcAft>
            </a:pPr>
          </a:p>
          <a:p>
            <a:pPr>
              <a:spcAft>
                <a:spcPts val="600"/>
              </a:spcAft>
              <a:defRPr sz="1300">
                <a:solidFill>
                  <a:srgbClr val="333333"/>
                </a:solidFill>
              </a:defRPr>
            </a:pPr>
            <a:r>
              <a:t>Deng Xinting, Committee Member</a:t>
            </a:r>
            <a:br/>
            <a:r>
              <a:t>Deputy Director, Center for Traditional Chinese Medicine Functional Rehabilitation Engineering, Ministry of Education, Shanghai University of Traditional Chinese Medicine</a:t>
            </a:r>
          </a:p>
          <a:p>
            <a:pPr>
              <a:spcAft>
                <a:spcPts val="400"/>
              </a:spcAft>
            </a:pPr>
          </a:p>
          <a:p>
            <a:pPr>
              <a:spcAft>
                <a:spcPts val="600"/>
              </a:spcAft>
              <a:defRPr sz="1300">
                <a:solidFill>
                  <a:srgbClr val="333333"/>
                </a:solidFill>
              </a:defRPr>
            </a:pPr>
            <a:r>
              <a:t>Zhao Huaibo, Committee Member</a:t>
            </a:r>
            <a:br/>
            <a:r>
              <a:t>Attending Physician, Tongji University Affiliated Dermatology Hospital</a:t>
            </a:r>
          </a:p>
          <a:p>
            <a:pPr>
              <a:spcAft>
                <a:spcPts val="400"/>
              </a:spcAft>
            </a:pPr>
          </a:p>
          <a:p>
            <a:pPr>
              <a:spcAft>
                <a:spcPts val="600"/>
              </a:spcAft>
              <a:defRPr sz="1300">
                <a:solidFill>
                  <a:srgbClr val="333333"/>
                </a:solidFill>
              </a:defRPr>
            </a:pPr>
            <a:r>
              <a:t>Zhao Hang, Committee Member</a:t>
            </a:r>
            <a:br/>
            <a:r>
              <a:t>Attending Physician, First Affiliated Hospital, Zhejiang University of Traditional Chinese Medicine</a:t>
            </a:r>
          </a:p>
          <a:p>
            <a:pPr>
              <a:spcAft>
                <a:spcPts val="400"/>
              </a:spcAft>
            </a:pPr>
          </a:p>
          <a:p>
            <a:pPr>
              <a:spcAft>
                <a:spcPts val="600"/>
              </a:spcAft>
              <a:defRPr sz="1300">
                <a:solidFill>
                  <a:srgbClr val="333333"/>
                </a:solidFill>
              </a:defRPr>
            </a:pPr>
            <a:r>
              <a:t>KEVIN CAO, Committee Member</a:t>
            </a:r>
            <a:br/>
            <a:r>
              <a:t>CEO, FUTURITY CONSULTING</a:t>
            </a:r>
          </a:p>
          <a:p>
            <a:pPr>
              <a:spcAft>
                <a:spcPts val="400"/>
              </a:spcAft>
            </a:pPr>
          </a:p>
          <a:p>
            <a:pPr>
              <a:spcAft>
                <a:spcPts val="600"/>
              </a:spcAft>
              <a:defRPr sz="1300">
                <a:solidFill>
                  <a:srgbClr val="333333"/>
                </a:solidFill>
              </a:defRPr>
            </a:pPr>
            <a:r>
              <a:t>Lai Yongzhen, Standing Committee Member</a:t>
            </a:r>
            <a:br/>
            <a:r>
              <a:t>Director, Department of Dermatology, Tongji University Affiliated Dermatology Hospital</a:t>
            </a:r>
          </a:p>
          <a:p>
            <a:pPr>
              <a:spcAft>
                <a:spcPts val="400"/>
              </a:spcAft>
            </a:pPr>
          </a:p>
          <a:p>
            <a:pPr>
              <a:spcAft>
                <a:spcPts val="600"/>
              </a:spcAft>
              <a:defRPr sz="1300">
                <a:solidFill>
                  <a:srgbClr val="333333"/>
                </a:solidFill>
              </a:defRPr>
            </a:pPr>
            <a:r>
              <a:t>Jiang Wencheng, Standing Committee Member</a:t>
            </a:r>
            <a:br/>
            <a:r>
              <a:t>Director, Department of Traditional Chinese Medicine Dermatology, Tongji University Affiliated Dermatology Hospital</a:t>
            </a:r>
          </a:p>
          <a:p>
            <a:pPr>
              <a:spcAft>
                <a:spcPts val="400"/>
              </a:spcAft>
            </a:pPr>
          </a:p>
          <a:p>
            <a:pPr>
              <a:spcAft>
                <a:spcPts val="600"/>
              </a:spcAft>
              <a:defRPr sz="1300">
                <a:solidFill>
                  <a:srgbClr val="333333"/>
                </a:solidFill>
              </a:defRPr>
            </a:pPr>
            <a:r>
              <a:t>Wang Qingliang, Standing Committee Member</a:t>
            </a:r>
            <a:br/>
            <a:r>
              <a:t>Director, Department of External Cooperation and Development, Tongji University Affiliated Dermatology Hospital</a:t>
            </a:r>
          </a:p>
          <a:p>
            <a:pPr>
              <a:spcAft>
                <a:spcPts val="400"/>
              </a:spcAft>
            </a:pPr>
          </a:p>
          <a:p>
            <a:pPr>
              <a:spcAft>
                <a:spcPts val="600"/>
              </a:spcAft>
              <a:defRPr sz="1300">
                <a:solidFill>
                  <a:srgbClr val="333333"/>
                </a:solidFill>
              </a:defRPr>
            </a:pPr>
            <a:r>
              <a:t>Lu Yongjia, Standing Committee Member</a:t>
            </a:r>
            <a:br/>
            <a:r>
              <a:t>Director, Human Resources Department, Shanghai University of Traditional Chinese Medicine</a:t>
            </a:r>
          </a:p>
          <a:p>
            <a:pPr>
              <a:spcAft>
                <a:spcPts val="400"/>
              </a:spcAft>
            </a:pPr>
          </a:p>
          <a:p>
            <a:pPr>
              <a:spcAft>
                <a:spcPts val="600"/>
              </a:spcAft>
              <a:defRPr sz="1300">
                <a:solidFill>
                  <a:srgbClr val="333333"/>
                </a:solidFill>
              </a:defRPr>
            </a:pPr>
            <a:r>
              <a:t>Wu Qing, Standing Committee Member</a:t>
            </a:r>
            <a:br/>
            <a:r>
              <a:t>Vice President, CBE Business Alliance Hainan Branch</a:t>
            </a:r>
          </a:p>
          <a:p>
            <a:pPr>
              <a:spcAft>
                <a:spcPts val="400"/>
              </a:spcAft>
            </a:pPr>
          </a:p>
          <a:p>
            <a:pPr>
              <a:spcAft>
                <a:spcPts val="600"/>
              </a:spcAft>
              <a:defRPr sz="1300">
                <a:solidFill>
                  <a:srgbClr val="333333"/>
                </a:solidFill>
              </a:defRPr>
            </a:pPr>
            <a:r>
              <a:t>Mari Lee, Standing Committee Chairperson for International Cooperation</a:t>
            </a:r>
            <a:br/>
            <a:r>
              <a:t>Jinseona Global International Club</a:t>
            </a:r>
          </a:p>
          <a:p>
            <a:pPr>
              <a:spcAft>
                <a:spcPts val="400"/>
              </a:spcAft>
            </a:pPr>
          </a:p>
          <a:p>
            <a:pPr>
              <a:spcAft>
                <a:spcPts val="600"/>
              </a:spcAft>
              <a:defRPr sz="1300">
                <a:solidFill>
                  <a:srgbClr val="333333"/>
                </a:solidFill>
              </a:defRPr>
            </a:pPr>
            <a:r>
              <a:t>Jang-Won Wi, Committee Member</a:t>
            </a:r>
            <a:br/>
            <a:r>
              <a:t>Head of Operations, Korean Chamber of Commerce in Shanghai (Korean Association in Shanghai)</a:t>
            </a:r>
          </a:p>
          <a:p>
            <a:pPr>
              <a:spcAft>
                <a:spcPts val="400"/>
              </a:spcAft>
            </a:pPr>
          </a:p>
          <a:p>
            <a:pPr>
              <a:spcAft>
                <a:spcPts val="600"/>
              </a:spcAft>
              <a:defRPr sz="1300">
                <a:solidFill>
                  <a:srgbClr val="333333"/>
                </a:solidFill>
              </a:defRPr>
            </a:pPr>
            <a:r>
              <a:t>Zhu Mengyuan, Committee Member</a:t>
            </a:r>
            <a:br/>
            <a:r>
              <a:t>Head of Korean Market, STARVISION Global Marketing</a:t>
            </a:r>
          </a:p>
          <a:p>
            <a:pPr>
              <a:spcAft>
                <a:spcPts val="400"/>
              </a:spcAft>
            </a:pPr>
          </a:p>
          <a:p>
            <a:pPr>
              <a:spcAft>
                <a:spcPts val="600"/>
              </a:spcAft>
              <a:defRPr sz="1300">
                <a:solidFill>
                  <a:srgbClr val="333333"/>
                </a:solidFill>
              </a:defRPr>
            </a:pPr>
            <a:r>
              <a:t>Cai Xiaodan, Youth Committee Member</a:t>
            </a:r>
            <a:br/>
            <a:r>
              <a:t>Resident Physician, Center for Dermatology and Cosmetology, Affiliated Yueyang Hospital of Integrated Traditional Chinese and Western Medicine, Shanghai University of Traditional Chinese Medicine</a:t>
            </a:r>
          </a:p>
          <a:p>
            <a:pPr>
              <a:spcAft>
                <a:spcPts val="400"/>
              </a:spcAft>
            </a:pPr>
          </a:p>
          <a:p>
            <a:pPr>
              <a:spcAft>
                <a:spcPts val="600"/>
              </a:spcAft>
              <a:defRPr sz="1300">
                <a:solidFill>
                  <a:srgbClr val="333333"/>
                </a:solidFill>
              </a:defRPr>
            </a:pPr>
            <a:r>
              <a:t>Zhang Miao, Youth Committee Member</a:t>
            </a:r>
            <a:br/>
            <a:r>
              <a:t>Resident Physician, Center for Dermatology and Cosmetology, Affiliated Yueyang Hospital of Integrated Traditional Chinese and Western Medicine, Shanghai University of Traditional Chinese Medicine</a:t>
            </a:r>
          </a:p>
          <a:p>
            <a:pPr>
              <a:spcAft>
                <a:spcPts val="400"/>
              </a:spcAft>
            </a:pPr>
          </a:p>
          <a:p>
            <a:pPr>
              <a:spcAft>
                <a:spcPts val="600"/>
              </a:spcAft>
              <a:defRPr sz="1300">
                <a:solidFill>
                  <a:srgbClr val="333333"/>
                </a:solidFill>
              </a:defRPr>
            </a:pPr>
            <a:r>
              <a:t>Jae-Gyo Lee, Research Committee Chairperson</a:t>
            </a:r>
            <a:br/>
            <a:r>
              <a:t>Researcher, DANA-FARBER CANCER INSTITUTE</a:t>
            </a:r>
          </a:p>
          <a:p>
            <a:pPr>
              <a:spcAft>
                <a:spcPts val="400"/>
              </a:spcAft>
            </a:pPr>
          </a:p>
          <a:p>
            <a:pPr>
              <a:spcAft>
                <a:spcPts val="600"/>
              </a:spcAft>
              <a:defRPr sz="1300">
                <a:solidFill>
                  <a:srgbClr val="333333"/>
                </a:solidFill>
              </a:defRPr>
            </a:pPr>
            <a:r>
              <a:t>Gang-Geon Kim, International Exchange Committee Chairperson</a:t>
            </a:r>
            <a:br/>
            <a:r>
              <a:t>Researcher, Seoul National University College of Medicine - University of Oxford Medical School</a:t>
            </a:r>
          </a:p>
          <a:p>
            <a:pPr>
              <a:spcAft>
                <a:spcPts val="400"/>
              </a:spcAft>
            </a:pPr>
          </a:p>
          <a:p>
            <a:pPr>
              <a:spcAft>
                <a:spcPts val="600"/>
              </a:spcAft>
              <a:defRPr sz="1300">
                <a:solidFill>
                  <a:srgbClr val="333333"/>
                </a:solidFill>
              </a:defRPr>
            </a:pPr>
            <a:r>
              <a:t>Jun-Hyeong Lee, Culture &amp; Industry Committee Chairperson</a:t>
            </a:r>
            <a:br/>
            <a:r>
              <a:t>CTO, A ROUND ENT</a:t>
            </a:r>
          </a:p>
          <a:p>
            <a:pPr>
              <a:spcAft>
                <a:spcPts val="400"/>
              </a:spcAft>
            </a:pPr>
          </a:p>
          <a:p>
            <a:pPr>
              <a:spcAft>
                <a:spcPts val="600"/>
              </a:spcAft>
              <a:defRPr sz="1300">
                <a:solidFill>
                  <a:srgbClr val="333333"/>
                </a:solidFill>
              </a:defRPr>
            </a:pPr>
            <a:r>
              <a:t>Jae-Hee Choi, External Cooperation Committee Member</a:t>
            </a:r>
            <a:br/>
            <a:r>
              <a:t>Banwon International Club</a:t>
            </a:r>
          </a:p>
          <a:p>
            <a:pPr>
              <a:spcAft>
                <a:spcPts val="400"/>
              </a:spcAft>
            </a:pPr>
          </a:p>
          <a:p>
            <a:pPr>
              <a:spcAft>
                <a:spcPts val="600"/>
              </a:spcAft>
              <a:defRPr sz="1300">
                <a:solidFill>
                  <a:srgbClr val="333333"/>
                </a:solidFill>
              </a:defRPr>
            </a:pPr>
            <a:r>
              <a:t>Yu Liqun, Youth Committee Member</a:t>
            </a:r>
            <a:br/>
            <a:r>
              <a:t>Head of Health Talk Show, Shanghai Ocean Broadcasting Station</a:t>
            </a:r>
          </a:p>
          <a:p>
            <a:pPr>
              <a:spcAft>
                <a:spcPts val="400"/>
              </a:spcAft>
            </a:pPr>
          </a:p>
          <a:p>
            <a:pPr>
              <a:spcAft>
                <a:spcPts val="600"/>
              </a:spcAft>
              <a:defRPr sz="1300">
                <a:solidFill>
                  <a:srgbClr val="333333"/>
                </a:solidFill>
              </a:defRPr>
            </a:pPr>
            <a:r>
              <a:t>Qian Yiti, Youth Committee Member</a:t>
            </a:r>
            <a:br/>
            <a:r>
              <a:t>Cosmetic Safety Assessment Researcher, Wuxi Kolmar</a:t>
            </a:r>
          </a:p>
          <a:p>
            <a:pPr>
              <a:spcAft>
                <a:spcPts val="400"/>
              </a:spcAft>
            </a:pPr>
          </a:p>
          <a:p>
            <a:pPr>
              <a:spcAft>
                <a:spcPts val="600"/>
              </a:spcAft>
              <a:defRPr sz="1300">
                <a:solidFill>
                  <a:srgbClr val="333333"/>
                </a:solidFill>
              </a:defRPr>
            </a:pPr>
            <a:r>
              <a:t>Yeong-Mun Kang, Advisory Committee Member</a:t>
            </a:r>
            <a:br/>
            <a:r>
              <a:t>Member of Provincial Assembly, Jeju Special Self-Governing Province</a:t>
            </a:r>
          </a:p>
          <a:p>
            <a:pPr>
              <a:spcAft>
                <a:spcPts val="400"/>
              </a:spcAft>
            </a:pPr>
          </a:p>
          <a:p>
            <a:pPr>
              <a:spcAft>
                <a:spcPts val="600"/>
              </a:spcAft>
              <a:defRPr sz="1300">
                <a:solidFill>
                  <a:srgbClr val="333333"/>
                </a:solidFill>
              </a:defRPr>
            </a:pPr>
            <a:r>
              <a:t>Tae-Jun Park, Advisory Committee Member</a:t>
            </a:r>
            <a:br/>
            <a:r>
              <a:t>Deputy Director, Korea Communications Agency</a:t>
            </a:r>
          </a:p>
          <a:p>
            <a:pPr>
              <a:spcAft>
                <a:spcPts val="400"/>
              </a:spcAft>
            </a:pPr>
          </a:p>
          <a:p>
            <a:pPr>
              <a:spcAft>
                <a:spcPts val="600"/>
              </a:spcAft>
              <a:defRPr sz="1300">
                <a:solidFill>
                  <a:srgbClr val="333333"/>
                </a:solidFill>
              </a:defRPr>
            </a:pPr>
            <a:r>
              <a:t>Wang Jiao, Youth Committee Member</a:t>
            </a:r>
            <a:br/>
            <a:r>
              <a:t>Resident Physician, Center for Dermatology and Cosmetology, Affiliated Yueyang Hospital of Integrated Traditional Chinese and Western Medicine, Shanghai University of Traditional Chinese Medicine</a:t>
            </a:r>
          </a:p>
          <a:p>
            <a:pPr>
              <a:spcAft>
                <a:spcPts val="400"/>
              </a:spcAft>
            </a:pPr>
          </a:p>
          <a:p>
            <a:pPr>
              <a:spcAft>
                <a:spcPts val="600"/>
              </a:spcAft>
              <a:defRPr sz="1300">
                <a:solidFill>
                  <a:srgbClr val="333333"/>
                </a:solidFill>
              </a:defRPr>
            </a:pPr>
            <a:r>
              <a:t>Chen Zezhou, Youth Committee Member</a:t>
            </a:r>
            <a:br/>
            <a:r>
              <a:t>CEO, Huizhou Packaging Science and Technology Corporation</a:t>
            </a:r>
          </a:p>
          <a:p>
            <a:pPr>
              <a:spcAft>
                <a:spcPts val="400"/>
              </a:spcAft>
            </a:pPr>
          </a:p>
          <a:p>
            <a:pPr>
              <a:spcAft>
                <a:spcPts val="600"/>
              </a:spcAft>
              <a:defRPr sz="1300">
                <a:solidFill>
                  <a:srgbClr val="333333"/>
                </a:solidFill>
              </a:defRPr>
            </a:pPr>
            <a:r>
              <a:t>Wang Yuyang, Youth Committee Member</a:t>
            </a:r>
            <a:br/>
            <a:r>
              <a:t>Reporter, International Communication Department, Shanghai Broadcasting Station</a:t>
            </a:r>
          </a:p>
          <a:p>
            <a:pPr>
              <a:spcAft>
                <a:spcPts val="400"/>
              </a:spcAft>
            </a:pPr>
          </a:p>
          <a:p>
            <a:pPr>
              <a:spcAft>
                <a:spcPts val="600"/>
              </a:spcAft>
              <a:defRPr sz="1300">
                <a:solidFill>
                  <a:srgbClr val="333333"/>
                </a:solidFill>
              </a:defRPr>
            </a:pPr>
            <a:r>
              <a:t>Gyeong-Suk Lee, Advisory Committee Member</a:t>
            </a:r>
            <a:br/>
            <a:r>
              <a:t>President, Shanghai East China Women Entrepreneurs Association</a:t>
            </a:r>
          </a:p>
          <a:p>
            <a:pPr>
              <a:spcAft>
                <a:spcPts val="400"/>
              </a:spcAft>
            </a:pPr>
          </a:p>
          <a:p>
            <a:pPr>
              <a:spcAft>
                <a:spcPts val="600"/>
              </a:spcAft>
              <a:defRPr sz="1300">
                <a:solidFill>
                  <a:srgbClr val="333333"/>
                </a:solidFill>
              </a:defRPr>
            </a:pPr>
            <a:r>
              <a:t>No-Hun Lee, Advisory Committee Member</a:t>
            </a:r>
            <a:br/>
            <a:r>
              <a:t>Vice President, Y&amp;Y AUTOMOTIVE ELECTRONICS</a:t>
            </a:r>
          </a:p>
        </p:txBody>
      </p:sp>
      <p:sp>
        <p:nvSpPr>
          <p:cNvPr id="4" name="TextBox 3"/>
          <p:cNvSpPr txBox="1"/>
          <p:nvPr/>
        </p:nvSpPr>
        <p:spPr>
          <a:xfrm>
            <a:off x="10972800" y="6400800"/>
            <a:ext cx="914400" cy="365760"/>
          </a:xfrm>
          <a:prstGeom prst="rect">
            <a:avLst/>
          </a:prstGeom>
          <a:noFill/>
        </p:spPr>
        <p:txBody>
          <a:bodyPr wrap="none">
            <a:spAutoFit/>
          </a:bodyPr>
          <a:lstStyle/>
          <a:p>
            <a:pPr algn="r">
              <a:defRPr sz="1000">
                <a:solidFill>
                  <a:srgbClr val="999999"/>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698480" cy="1097280"/>
          </a:xfrm>
          <a:prstGeom prst="rect">
            <a:avLst/>
          </a:prstGeom>
          <a:noFill/>
        </p:spPr>
        <p:txBody>
          <a:bodyPr wrap="square">
            <a:spAutoFit/>
          </a:bodyPr>
          <a:lstStyle/>
          <a:p>
            <a:pPr algn="l">
              <a:defRPr sz="2800" b="1">
                <a:solidFill>
                  <a:srgbClr val="1F4E79"/>
                </a:solidFill>
              </a:defRPr>
            </a:pPr>
            <a:r>
              <a:t>Association Inaugural Meeting</a:t>
            </a:r>
          </a:p>
        </p:txBody>
      </p:sp>
      <p:sp>
        <p:nvSpPr>
          <p:cNvPr id="3" name="TextBox 2"/>
          <p:cNvSpPr txBox="1"/>
          <p:nvPr/>
        </p:nvSpPr>
        <p:spPr>
          <a:xfrm>
            <a:off x="731520" y="1371600"/>
            <a:ext cx="10698480" cy="5029200"/>
          </a:xfrm>
          <a:prstGeom prst="rect">
            <a:avLst/>
          </a:prstGeom>
          <a:noFill/>
        </p:spPr>
        <p:txBody>
          <a:bodyPr wrap="square">
            <a:spAutoFit/>
          </a:bodyPr>
          <a:lstStyle/>
          <a:p>
            <a:pPr>
              <a:spcAft>
                <a:spcPts val="800"/>
              </a:spcAft>
              <a:defRPr sz="2000" b="1">
                <a:solidFill>
                  <a:srgbClr val="2E75B6"/>
                </a:solidFill>
              </a:defRPr>
            </a:pPr>
            <a:r>
              <a:t>### Korea Skin Health Industry Association (KSHIA)</a:t>
            </a:r>
          </a:p>
          <a:p>
            <a:pPr>
              <a:spcAft>
                <a:spcPts val="400"/>
              </a:spcAft>
            </a:pPr>
          </a:p>
          <a:p>
            <a:pPr>
              <a:spcAft>
                <a:spcPts val="600"/>
              </a:spcAft>
              <a:defRPr sz="1400">
                <a:solidFill>
                  <a:srgbClr val="333333"/>
                </a:solidFill>
              </a:defRPr>
            </a:pPr>
            <a:r>
              <a:t>Korea Skin Health Industry Association</a:t>
            </a:r>
          </a:p>
          <a:p>
            <a:pPr>
              <a:spcAft>
                <a:spcPts val="400"/>
              </a:spcAft>
            </a:pPr>
          </a:p>
          <a:p>
            <a:pPr>
              <a:spcAft>
                <a:spcPts val="600"/>
              </a:spcAft>
              <a:defRPr sz="1400">
                <a:solidFill>
                  <a:srgbClr val="333333"/>
                </a:solidFill>
              </a:defRPr>
            </a:pPr>
            <a:r>
              <a:t>2026 SHANGHAI, China</a:t>
            </a:r>
          </a:p>
          <a:p>
            <a:pPr>
              <a:spcAft>
                <a:spcPts val="400"/>
              </a:spcAft>
            </a:pPr>
          </a:p>
          <a:p>
            <a:pPr>
              <a:spcAft>
                <a:spcPts val="800"/>
              </a:spcAft>
              <a:defRPr sz="2000" b="1">
                <a:solidFill>
                  <a:srgbClr val="2E75B6"/>
                </a:solidFill>
              </a:defRPr>
            </a:pPr>
            <a:r>
              <a:t>### Host Organizations:</a:t>
            </a:r>
          </a:p>
          <a:p>
            <a:pPr>
              <a:spcAft>
                <a:spcPts val="400"/>
              </a:spcAft>
            </a:pPr>
          </a:p>
          <a:p>
            <a:pPr>
              <a:spcAft>
                <a:spcPts val="400"/>
              </a:spcAft>
              <a:defRPr sz="1400">
                <a:solidFill>
                  <a:srgbClr val="333333"/>
                </a:solidFill>
              </a:defRPr>
            </a:pPr>
            <a:r>
              <a:t>  •  ['Shanghai Korean Chamber of Commerce (Korean Association in Shanghai)', 'The Korean Chamber of Commerce in Shanghai']</a:t>
            </a:r>
          </a:p>
          <a:p>
            <a:pPr>
              <a:spcAft>
                <a:spcPts val="400"/>
              </a:spcAft>
            </a:pPr>
          </a:p>
          <a:p>
            <a:pPr>
              <a:spcAft>
                <a:spcPts val="800"/>
              </a:spcAft>
              <a:defRPr sz="2000" b="1">
                <a:solidFill>
                  <a:srgbClr val="2E75B6"/>
                </a:solidFill>
              </a:defRPr>
            </a:pPr>
            <a:r>
              <a:t>### Sponsoring Organizations:</a:t>
            </a:r>
          </a:p>
          <a:p>
            <a:pPr>
              <a:spcAft>
                <a:spcPts val="400"/>
              </a:spcAft>
            </a:pPr>
          </a:p>
          <a:p>
            <a:pPr>
              <a:spcAft>
                <a:spcPts val="400"/>
              </a:spcAft>
              <a:defRPr sz="1400">
                <a:solidFill>
                  <a:srgbClr val="333333"/>
                </a:solidFill>
              </a:defRPr>
            </a:pPr>
            <a:r>
              <a:t>  •  ['KHIDI Korea Health Industry Development Institute', 'Gyeongsangbuk-do Province (GYEONGSANGBUK-DO)', 'Chungcheongnam-do Province (Chungcheongnam-do)', 'Daegu Metropolitan City (DAEGU METROPOLITAN CITY)', "SUB-DISTRICT OFFICE OF NANJING WEST ROAD, JING'AN DISTRICT, SHANGHAI (静安区南京西路街道办事处)", 'Korean Scientists and Engineers Association in China (재중한인과학기술자협회)', 'World Federation of Overseas Korean Economy Associations (OKTA)', 'Shanghai Korean Women Entrepreneurs Association (上海华东华人女性经济人会)', 'Shanghai and East China IT Business Council', 'Shanghai and East China IT Entrepreneurs Association', 'Trade Association Shanghai Branch (ECONOMIC AND TRADE ASSOCIATIONS SHANGHAI BRANCH)']</a:t>
            </a:r>
          </a:p>
          <a:p>
            <a:pPr>
              <a:spcAft>
                <a:spcPts val="400"/>
              </a:spcAft>
            </a:pPr>
          </a:p>
          <a:p>
            <a:pPr>
              <a:spcAft>
                <a:spcPts val="800"/>
              </a:spcAft>
              <a:defRPr sz="2000" b="1">
                <a:solidFill>
                  <a:srgbClr val="2E75B6"/>
                </a:solidFill>
              </a:defRPr>
            </a:pPr>
            <a:r>
              <a:t>### Related Articles: Chinese Central Media &lt;Xinhua News Agency&gt;</a:t>
            </a:r>
          </a:p>
          <a:p>
            <a:pPr>
              <a:spcAft>
                <a:spcPts val="400"/>
              </a:spcAft>
            </a:pPr>
          </a:p>
          <a:p>
            <a:pPr>
              <a:spcAft>
                <a:spcPts val="800"/>
              </a:spcAft>
              <a:defRPr sz="2000" b="1">
                <a:solidFill>
                  <a:srgbClr val="2E75B6"/>
                </a:solidFill>
              </a:defRPr>
            </a:pPr>
            <a:r>
              <a:t>#### Xinhua News Agency</a:t>
            </a:r>
          </a:p>
          <a:p>
            <a:pPr>
              <a:spcAft>
                <a:spcPts val="400"/>
              </a:spcAft>
            </a:pPr>
          </a:p>
          <a:p>
            <a:pPr>
              <a:spcAft>
                <a:spcPts val="600"/>
              </a:spcAft>
              <a:defRPr sz="1400">
                <a:solidFill>
                  <a:srgbClr val="333333"/>
                </a:solidFill>
              </a:defRPr>
            </a:pPr>
            <a:r>
              <a:t>Source: Xinhua News Agency Korean News Service 2026-02-08 13:24:15</a:t>
            </a:r>
          </a:p>
          <a:p>
            <a:pPr>
              <a:spcAft>
                <a:spcPts val="400"/>
              </a:spcAft>
            </a:pPr>
          </a:p>
          <a:p>
            <a:pPr>
              <a:spcAft>
                <a:spcPts val="600"/>
              </a:spcAft>
              <a:defRPr sz="1400">
                <a:solidFill>
                  <a:srgbClr val="333333"/>
                </a:solidFill>
              </a:defRPr>
            </a:pPr>
            <a:r>
              <a:t>|Special Feature - Korea-China Exchange| Korea Skin Health Industry Association (KSHIA) Launched in Shanghai... Accelerating China-Korea Beauty Industry Cooperation</a:t>
            </a:r>
          </a:p>
          <a:p>
            <a:pPr>
              <a:spcAft>
                <a:spcPts val="400"/>
              </a:spcAft>
            </a:pPr>
          </a:p>
          <a:p>
            <a:pPr>
              <a:spcAft>
                <a:spcPts val="600"/>
              </a:spcAft>
              <a:defRPr sz="1400">
                <a:solidFill>
                  <a:srgbClr val="333333"/>
                </a:solidFill>
              </a:defRPr>
            </a:pPr>
            <a:r>
              <a:t>(Shanghai, China = Xinhua News Agency) The Korea Skin Health Industry Association (KSHIA) was officially launched in Shanghai, China on the 6th. The association plans to play a strategic role in promoting China-Korea skin health industry cooperation and support mutual market entry for companies from both countries.</a:t>
            </a:r>
          </a:p>
          <a:p>
            <a:pPr>
              <a:spcAft>
                <a:spcPts val="400"/>
              </a:spcAft>
            </a:pPr>
          </a:p>
          <a:p>
            <a:pPr>
              <a:spcAft>
                <a:spcPts val="600"/>
              </a:spcAft>
              <a:defRPr sz="1400">
                <a:solidFill>
                  <a:srgbClr val="333333"/>
                </a:solidFill>
              </a:defRPr>
            </a:pPr>
            <a:r>
              <a:t>The association will operate as a comprehensive cooperation platform with the participation of various stakeholders, including medical institutions, universities and research institutes, cosmetics, health food, and medical device companies, digital media sectors, and government agencies.</a:t>
            </a:r>
          </a:p>
          <a:p>
            <a:pPr>
              <a:spcAft>
                <a:spcPts val="400"/>
              </a:spcAft>
            </a:pPr>
          </a:p>
          <a:p>
            <a:pPr>
              <a:spcAft>
                <a:spcPts val="600"/>
              </a:spcAft>
              <a:defRPr sz="1400">
                <a:solidFill>
                  <a:srgbClr val="333333"/>
                </a:solidFill>
              </a:defRPr>
            </a:pPr>
            <a:r>
              <a:t>Group photo from the Korea Skin Health Industry Association (KSHIA) launching ceremony on the 6th.</a:t>
            </a:r>
          </a:p>
          <a:p>
            <a:pPr>
              <a:spcAft>
                <a:spcPts val="400"/>
              </a:spcAft>
            </a:pPr>
          </a:p>
          <a:p>
            <a:pPr>
              <a:spcAft>
                <a:spcPts val="800"/>
              </a:spcAft>
              <a:defRPr sz="2000" b="1">
                <a:solidFill>
                  <a:srgbClr val="2E75B6"/>
                </a:solidFill>
              </a:defRPr>
            </a:pPr>
            <a:r>
              <a:t>#### Xinhua Finance</a:t>
            </a:r>
          </a:p>
          <a:p>
            <a:pPr>
              <a:spcAft>
                <a:spcPts val="400"/>
              </a:spcAft>
            </a:pPr>
          </a:p>
          <a:p>
            <a:pPr>
              <a:spcAft>
                <a:spcPts val="600"/>
              </a:spcAft>
              <a:defRPr sz="1400">
                <a:solidFill>
                  <a:srgbClr val="333333"/>
                </a:solidFill>
              </a:defRPr>
            </a:pPr>
            <a:r>
              <a:t>Xinhua Finance, Yang Zihua, Huang Anqi 02-06 22:55 Readership 475,000</a:t>
            </a:r>
          </a:p>
          <a:p>
            <a:pPr>
              <a:spcAft>
                <a:spcPts val="400"/>
              </a:spcAft>
            </a:pPr>
          </a:p>
          <a:p>
            <a:pPr>
              <a:spcAft>
                <a:spcPts val="600"/>
              </a:spcAft>
              <a:defRPr sz="1400">
                <a:solidFill>
                  <a:srgbClr val="333333"/>
                </a:solidFill>
              </a:defRPr>
            </a:pPr>
            <a:r>
              <a:t>Listen to the full text</a:t>
            </a:r>
          </a:p>
          <a:p>
            <a:pPr>
              <a:spcAft>
                <a:spcPts val="400"/>
              </a:spcAft>
            </a:pPr>
          </a:p>
          <a:p>
            <a:pPr>
              <a:spcAft>
                <a:spcPts val="600"/>
              </a:spcAft>
              <a:defRPr sz="1400">
                <a:solidFill>
                  <a:srgbClr val="333333"/>
                </a:solidFill>
              </a:defRPr>
            </a:pPr>
            <a:r>
              <a:t>South Korea's cosmetics exports have continued to grow in recent years, with China being the main export market. However, once popular K-beauty brands have shown significant differentiation in their performance in the domestic market in recent years, with some makeup brands like hince exiting, while others like Dr.G are firmly deepening their presence. The Korean government and business community are exploring organized industry chain collaboration and market resource integration to lower the entry barriers for small and medium-sized brands into China.</a:t>
            </a:r>
          </a:p>
          <a:p>
            <a:pPr>
              <a:spcAft>
                <a:spcPts val="400"/>
              </a:spcAft>
            </a:pPr>
          </a:p>
          <a:p>
            <a:pPr>
              <a:spcAft>
                <a:spcPts val="600"/>
              </a:spcAft>
              <a:defRPr sz="1400">
                <a:solidFill>
                  <a:srgbClr val="333333"/>
                </a:solidFill>
              </a:defRPr>
            </a:pPr>
            <a:r>
              <a:t>Xinhua Finance, Shanghai, February 6 (Yang Zihua, Huang Anqi) The Korea Skin Health Industry Association (KSHIA) was established in Shanghai on February 6. It is understood that the platform aims to provide systematic support for Korean companies entering the Chinese market and deepen China-Korea industrial cooperation.</a:t>
            </a:r>
          </a:p>
          <a:p>
            <a:pPr>
              <a:spcAft>
                <a:spcPts val="400"/>
              </a:spcAft>
            </a:pPr>
          </a:p>
          <a:p>
            <a:pPr>
              <a:spcAft>
                <a:spcPts val="600"/>
              </a:spcAft>
              <a:defRPr sz="1400">
                <a:solidFill>
                  <a:srgbClr val="333333"/>
                </a:solidFill>
              </a:defRPr>
            </a:pPr>
            <a:r>
              <a:t>Industry insiders point out that domestic consumers' demand for skin health management and high-quality products continues to rise, and the Chinese market shows strong appeal to the Korean industry.</a:t>
            </a:r>
          </a:p>
          <a:p>
            <a:pPr>
              <a:spcAft>
                <a:spcPts val="400"/>
              </a:spcAft>
            </a:pPr>
          </a:p>
          <a:p>
            <a:pPr>
              <a:spcAft>
                <a:spcPts val="800"/>
              </a:spcAft>
              <a:defRPr sz="2000" b="1">
                <a:solidFill>
                  <a:srgbClr val="2E75B6"/>
                </a:solidFill>
              </a:defRPr>
            </a:pPr>
            <a:r>
              <a:t>### Official Account: KSHIA</a:t>
            </a:r>
          </a:p>
          <a:p>
            <a:pPr>
              <a:spcAft>
                <a:spcPts val="400"/>
              </a:spcAft>
            </a:pPr>
          </a:p>
          <a:p>
            <a:pPr>
              <a:spcAft>
                <a:spcPts val="600"/>
              </a:spcAft>
              <a:defRPr sz="1400">
                <a:solidFill>
                  <a:srgbClr val="333333"/>
                </a:solidFill>
              </a:defRPr>
            </a:pPr>
            <a:r>
              <a:t>Sent / Private Message</a:t>
            </a:r>
          </a:p>
          <a:p>
            <a:pPr>
              <a:spcAft>
                <a:spcPts val="400"/>
              </a:spcAft>
            </a:pPr>
          </a:p>
          <a:p>
            <a:pPr>
              <a:spcAft>
                <a:spcPts val="600"/>
              </a:spcAft>
              <a:defRPr sz="1400">
                <a:solidFill>
                  <a:srgbClr val="333333"/>
                </a:solidFill>
              </a:defRPr>
            </a:pPr>
            <a:r>
              <a:t>All / Articles / Services</a:t>
            </a:r>
          </a:p>
          <a:p>
            <a:pPr>
              <a:spcAft>
                <a:spcPts val="400"/>
              </a:spcAft>
            </a:pPr>
          </a:p>
          <a:p>
            <a:pPr>
              <a:spcAft>
                <a:spcPts val="600"/>
              </a:spcAft>
              <a:defRPr sz="1400">
                <a:solidFill>
                  <a:srgbClr val="333333"/>
                </a:solidFill>
              </a:defRPr>
            </a:pPr>
            <a:r>
              <a:t>February 7</a:t>
            </a:r>
          </a:p>
          <a:p>
            <a:pPr>
              <a:spcAft>
                <a:spcPts val="400"/>
              </a:spcAft>
            </a:pPr>
          </a:p>
          <a:p>
            <a:pPr>
              <a:spcAft>
                <a:spcPts val="600"/>
              </a:spcAft>
              <a:defRPr sz="1400">
                <a:solidFill>
                  <a:srgbClr val="333333"/>
                </a:solidFill>
              </a:defRPr>
            </a:pPr>
            <a:r>
              <a:t>China-Korea Skin Health Industry Opens New Chapter of Collaborative Development</a:t>
            </a:r>
          </a:p>
          <a:p>
            <a:pPr>
              <a:spcAft>
                <a:spcPts val="400"/>
              </a:spcAft>
            </a:pPr>
          </a:p>
          <a:p>
            <a:pPr>
              <a:spcAft>
                <a:spcPts val="600"/>
              </a:spcAft>
              <a:defRPr sz="1400">
                <a:solidFill>
                  <a:srgbClr val="333333"/>
                </a:solidFill>
              </a:defRPr>
            </a:pPr>
            <a:r>
              <a:t>Reads 192 Likes 5 8 friends forwarded</a:t>
            </a:r>
          </a:p>
          <a:p>
            <a:pPr>
              <a:spcAft>
                <a:spcPts val="400"/>
              </a:spcAft>
            </a:pPr>
          </a:p>
          <a:p>
            <a:pPr>
              <a:spcAft>
                <a:spcPts val="600"/>
              </a:spcAft>
              <a:defRPr sz="1400">
                <a:solidFill>
                  <a:srgbClr val="333333"/>
                </a:solidFill>
              </a:defRPr>
            </a:pPr>
            <a:r>
              <a:t>February 4</a:t>
            </a:r>
          </a:p>
          <a:p>
            <a:pPr>
              <a:spcAft>
                <a:spcPts val="400"/>
              </a:spcAft>
            </a:pPr>
          </a:p>
          <a:p>
            <a:pPr>
              <a:spcAft>
                <a:spcPts val="600"/>
              </a:spcAft>
              <a:defRPr sz="1400">
                <a:solidFill>
                  <a:srgbClr val="333333"/>
                </a:solidFill>
              </a:defRPr>
            </a:pPr>
            <a:r>
              <a:t>The Beginning of Spring has arrived</a:t>
            </a:r>
          </a:p>
          <a:p>
            <a:pPr>
              <a:spcAft>
                <a:spcPts val="400"/>
              </a:spcAft>
            </a:pPr>
          </a:p>
          <a:p>
            <a:pPr>
              <a:spcAft>
                <a:spcPts val="600"/>
              </a:spcAft>
              <a:defRPr sz="1400">
                <a:solidFill>
                  <a:srgbClr val="333333"/>
                </a:solidFill>
              </a:defRPr>
            </a:pPr>
            <a:r>
              <a:t>Reads 12 Likes 3 1 friend forwarded</a:t>
            </a:r>
          </a:p>
          <a:p>
            <a:pPr>
              <a:spcAft>
                <a:spcPts val="400"/>
              </a:spcAft>
            </a:pPr>
          </a:p>
          <a:p>
            <a:pPr>
              <a:spcAft>
                <a:spcPts val="600"/>
              </a:spcAft>
              <a:defRPr sz="1400">
                <a:solidFill>
                  <a:srgbClr val="333333"/>
                </a:solidFill>
              </a:defRPr>
            </a:pPr>
            <a:r>
              <a:t>January 27</a:t>
            </a:r>
          </a:p>
          <a:p>
            <a:pPr>
              <a:spcAft>
                <a:spcPts val="400"/>
              </a:spcAft>
            </a:pPr>
          </a:p>
          <a:p>
            <a:pPr>
              <a:spcAft>
                <a:spcPts val="600"/>
              </a:spcAft>
              <a:defRPr sz="1400">
                <a:solidFill>
                  <a:srgbClr val="333333"/>
                </a:solidFill>
              </a:defRPr>
            </a:pPr>
            <a:r>
              <a:t>Korea Skin Health Industry Association (KSHIA) Launch Announcement</a:t>
            </a:r>
          </a:p>
          <a:p>
            <a:pPr>
              <a:spcAft>
                <a:spcPts val="400"/>
              </a:spcAft>
            </a:pPr>
          </a:p>
          <a:p>
            <a:pPr>
              <a:spcAft>
                <a:spcPts val="600"/>
              </a:spcAft>
              <a:defRPr sz="1400">
                <a:solidFill>
                  <a:srgbClr val="333333"/>
                </a:solidFill>
              </a:defRPr>
            </a:pPr>
            <a:r>
              <a:t>Reads 225 Likes 2 4 friends forwarded</a:t>
            </a:r>
          </a:p>
          <a:p>
            <a:pPr>
              <a:spcAft>
                <a:spcPts val="400"/>
              </a:spcAft>
            </a:pPr>
          </a:p>
          <a:p>
            <a:pPr>
              <a:spcAft>
                <a:spcPts val="600"/>
              </a:spcAft>
              <a:defRPr sz="1400">
                <a:solidFill>
                  <a:srgbClr val="333333"/>
                </a:solidFill>
              </a:defRPr>
            </a:pPr>
            <a:r>
              <a:t>Invitation to the Korea Skin Health Industry Association (KSHIA) Founding Ceremony</a:t>
            </a:r>
          </a:p>
          <a:p>
            <a:pPr>
              <a:spcAft>
                <a:spcPts val="400"/>
              </a:spcAft>
            </a:pPr>
          </a:p>
          <a:p>
            <a:pPr>
              <a:spcAft>
                <a:spcPts val="600"/>
              </a:spcAft>
              <a:defRPr sz="1400">
                <a:solidFill>
                  <a:srgbClr val="333333"/>
                </a:solidFill>
              </a:defRPr>
            </a:pPr>
            <a:r>
              <a:t>Reads 193 Likes 4 4 friends forwarded</a:t>
            </a:r>
          </a:p>
          <a:p>
            <a:pPr>
              <a:spcAft>
                <a:spcPts val="400"/>
              </a:spcAft>
            </a:pPr>
          </a:p>
          <a:p>
            <a:pPr>
              <a:spcAft>
                <a:spcPts val="600"/>
              </a:spcAft>
              <a:defRPr sz="1400">
                <a:solidFill>
                  <a:srgbClr val="333333"/>
                </a:solidFill>
              </a:defRPr>
            </a:pPr>
            <a:r>
              <a:t>WECHAT QR CODE</a:t>
            </a:r>
          </a:p>
          <a:p>
            <a:pPr>
              <a:spcAft>
                <a:spcPts val="400"/>
              </a:spcAft>
            </a:pPr>
          </a:p>
          <a:p>
            <a:pPr>
              <a:spcAft>
                <a:spcPts val="800"/>
              </a:spcAft>
              <a:defRPr sz="2000" b="1">
                <a:solidFill>
                  <a:srgbClr val="2E75B6"/>
                </a:solidFill>
              </a:defRPr>
            </a:pPr>
            <a:r>
              <a:t>### Congratulatory Remarks:</a:t>
            </a:r>
          </a:p>
          <a:p>
            <a:pPr>
              <a:spcAft>
                <a:spcPts val="400"/>
              </a:spcAft>
            </a:pPr>
          </a:p>
          <a:p>
            <a:pPr>
              <a:spcAft>
                <a:spcPts val="600"/>
              </a:spcAft>
              <a:defRPr sz="1300">
                <a:solidFill>
                  <a:srgbClr val="333333"/>
                </a:solidFill>
              </a:defRPr>
            </a:pPr>
            <a:r>
              <a:t>{"name": "Jong-Han Tak", "title": "Chairman, Shanghai Korean Chamber of Commerce (Korean Association in Shanghai)", "speech_content": ["Distinguished guests, hello everyone!", "I am Jong-Han Tak, Vice Chairman of the Shanghai Korean Chamber of Commerce.", "First of all, I would like to extend my utmost respect for the grand establishment of the Korea Skin Health Industry Association (KSHIA)!", "Consul General Se-Yeon, Baek Seung-"]}</a:t>
            </a:r>
          </a:p>
          <a:p>
            <a:pPr>
              <a:spcAft>
                <a:spcPts val="400"/>
              </a:spcAft>
            </a:pPr>
          </a:p>
          <a:p>
            <a:pPr>
              <a:spcAft>
                <a:spcPts val="600"/>
              </a:spcAft>
              <a:defRPr sz="1300">
                <a:solidFill>
                  <a:srgbClr val="333333"/>
                </a:solidFill>
              </a:defRPr>
            </a:pPr>
            <a:r>
              <a:t>{"name": "Se-Hee Lim", "title": "Consul, Consulate General of the Republic of Korea in Shanghai", "speech_content": ["More specifically, consumers' selection criteria are rapidly shifting from 'sensibility and image'...", "...has become key to determining the success or failure of the industry.", "In such a wave of transformation, relying solely on the power of individual companies is insufficient...", "...the establishment ceremony can bring together medical institutions, businesses, government,", "...an important initiative that follows the trend of the times.", "Korea's outstanding R&amp;D capabilities in the skin health industry and...", "This association can combine Korea's efforts with Chinese expert teams...", "...and bring fruitful results to the recognized country and...", "The Consulate General in Shanghai is committed to promoting both countries'...", "...cooperation."]}</a:t>
            </a:r>
          </a:p>
          <a:p>
            <a:pPr>
              <a:spcAft>
                <a:spcPts val="400"/>
              </a:spcAft>
            </a:pPr>
          </a:p>
          <a:p>
            <a:pPr>
              <a:spcAft>
                <a:spcPts val="600"/>
              </a:spcAft>
              <a:defRPr sz="1300">
                <a:solidFill>
                  <a:srgbClr val="333333"/>
                </a:solidFill>
              </a:defRPr>
            </a:pPr>
            <a:r>
              <a:t>{"name": "Cai Jiangnan (Chae Gang-nam)", "title": "Professor, Shanghai Innovative Health Development Research Institute", "speech_content": ["There is a Chinese idiom: 'A journey of a thousand miles begins with a single step.' I firmly believe that", "...will become an important starting point for promoting industrial cooperation between Korea and China.", "Finally, I would like to express my gratitude to those who have put in diligent efforts for this event.", "...is the Korea Skin Health Industry Association (KSHIA), which will continue to cooperate..."]}</a:t>
            </a:r>
          </a:p>
          <a:p>
            <a:pPr>
              <a:spcAft>
                <a:spcPts val="400"/>
              </a:spcAft>
            </a:pPr>
          </a:p>
          <a:p>
            <a:pPr>
              <a:spcAft>
                <a:spcPts val="600"/>
              </a:spcAft>
              <a:defRPr sz="1300">
                <a:solidFill>
                  <a:srgbClr val="333333"/>
                </a:solidFill>
              </a:defRPr>
            </a:pPr>
            <a:r>
              <a:t>{"name": "Cheol-Beom Park", "title": "Academician, Chinese Academy of Engineering / Foreign Academician, Chinese Academy of Engineering (Screen Speaker in the section of Baek Seung-Su, Chief Representative of Korea Health Industry Development Institute (KHIDI) China Office)", "speech_content": ["Respected Chairman Myung-Kyu Son, distinguished leaders,", "Respected Professor Ryun Sum, respected Chief Representative Seung-Su Baek"]}</a:t>
            </a:r>
          </a:p>
          <a:p>
            <a:pPr>
              <a:spcAft>
                <a:spcPts val="400"/>
              </a:spcAft>
            </a:pPr>
          </a:p>
          <a:p>
            <a:pPr>
              <a:spcAft>
                <a:spcPts val="800"/>
              </a:spcAft>
              <a:defRPr sz="2000" b="1">
                <a:solidFill>
                  <a:srgbClr val="2E75B6"/>
                </a:solidFill>
              </a:defRPr>
            </a:pPr>
            <a:r>
              <a:t>### Remarks by Standing Advisor Cheol-Beom Park</a:t>
            </a:r>
          </a:p>
          <a:p>
            <a:pPr>
              <a:spcAft>
                <a:spcPts val="400"/>
              </a:spcAft>
            </a:pPr>
          </a:p>
          <a:p>
            <a:pPr>
              <a:spcAft>
                <a:spcPts val="400"/>
              </a:spcAft>
              <a:defRPr sz="1400">
                <a:solidFill>
                  <a:srgbClr val="333333"/>
                </a:solidFill>
              </a:defRPr>
            </a:pPr>
            <a:r>
              <a:t>  •  ['Academician Cheol-Beom Park, Chinese Academy of Engineering', 'Academician, Korean Academy of Science and Korean Academy of Engineering', 'Professor, University of Toronto, Canada', 'Academician, Royal Society of Canada and Canadian Academy of Engineering', 'International authority in the field of POLYMER FOAM', '2,000 published papers']</a:t>
            </a:r>
          </a:p>
          <a:p>
            <a:pPr>
              <a:spcAft>
                <a:spcPts val="400"/>
              </a:spcAft>
            </a:pPr>
          </a:p>
          <a:p>
            <a:pPr>
              <a:spcAft>
                <a:spcPts val="800"/>
              </a:spcAft>
              <a:defRPr sz="2000" b="1">
                <a:solidFill>
                  <a:srgbClr val="2E75B6"/>
                </a:solidFill>
              </a:defRPr>
            </a:pPr>
            <a:r>
              <a:t>### Association Launching Ceremony</a:t>
            </a:r>
          </a:p>
          <a:p>
            <a:pPr>
              <a:spcAft>
                <a:spcPts val="400"/>
              </a:spcAft>
            </a:pPr>
          </a:p>
          <a:p>
            <a:pPr>
              <a:spcAft>
                <a:spcPts val="800"/>
              </a:spcAft>
              <a:defRPr sz="2000" b="1">
                <a:solidFill>
                  <a:srgbClr val="2E75B6"/>
                </a:solidFill>
              </a:defRPr>
            </a:pPr>
            <a:r>
              <a:t>### Group Photo</a:t>
            </a:r>
          </a:p>
        </p:txBody>
      </p:sp>
      <p:sp>
        <p:nvSpPr>
          <p:cNvPr id="4" name="TextBox 3"/>
          <p:cNvSpPr txBox="1"/>
          <p:nvPr/>
        </p:nvSpPr>
        <p:spPr>
          <a:xfrm>
            <a:off x="10972800" y="6400800"/>
            <a:ext cx="914400" cy="365760"/>
          </a:xfrm>
          <a:prstGeom prst="rect">
            <a:avLst/>
          </a:prstGeom>
          <a:noFill/>
        </p:spPr>
        <p:txBody>
          <a:bodyPr wrap="none">
            <a:spAutoFit/>
          </a:bodyPr>
          <a:lstStyle/>
          <a:p>
            <a:pPr algn="r">
              <a:defRPr sz="1000">
                <a:solidFill>
                  <a:srgbClr val="999999"/>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698480" cy="1097280"/>
          </a:xfrm>
          <a:prstGeom prst="rect">
            <a:avLst/>
          </a:prstGeom>
          <a:noFill/>
        </p:spPr>
        <p:txBody>
          <a:bodyPr wrap="square">
            <a:spAutoFit/>
          </a:bodyPr>
          <a:lstStyle/>
          <a:p>
            <a:pPr algn="l">
              <a:defRPr sz="2800" b="1">
                <a:solidFill>
                  <a:srgbClr val="1F4E79"/>
                </a:solidFill>
              </a:defRPr>
            </a:pPr>
            <a:r>
              <a:t>Key Activities</a:t>
            </a:r>
          </a:p>
        </p:txBody>
      </p:sp>
      <p:sp>
        <p:nvSpPr>
          <p:cNvPr id="3" name="TextBox 2"/>
          <p:cNvSpPr txBox="1"/>
          <p:nvPr/>
        </p:nvSpPr>
        <p:spPr>
          <a:xfrm>
            <a:off x="731520" y="1371600"/>
            <a:ext cx="10698480" cy="5029200"/>
          </a:xfrm>
          <a:prstGeom prst="rect">
            <a:avLst/>
          </a:prstGeom>
          <a:noFill/>
        </p:spPr>
        <p:txBody>
          <a:bodyPr wrap="square">
            <a:spAutoFit/>
          </a:bodyPr>
          <a:lstStyle/>
          <a:p>
            <a:pPr>
              <a:spcAft>
                <a:spcPts val="800"/>
              </a:spcAft>
              <a:defRPr sz="2000" b="1">
                <a:solidFill>
                  <a:srgbClr val="2E75B6"/>
                </a:solidFill>
              </a:defRPr>
            </a:pPr>
            <a:r>
              <a:t>## ICIC International Cosmetics Innovation Forum (Apr 20-22, 2026)</a:t>
            </a:r>
          </a:p>
          <a:p>
            <a:pPr>
              <a:spcAft>
                <a:spcPts val="400"/>
              </a:spcAft>
            </a:pPr>
          </a:p>
          <a:p>
            <a:pPr>
              <a:spcAft>
                <a:spcPts val="600"/>
              </a:spcAft>
              <a:defRPr sz="1400">
                <a:solidFill>
                  <a:srgbClr val="333333"/>
                </a:solidFill>
              </a:defRPr>
            </a:pPr>
            <a:r>
              <a:t>2026 International Cosmetics Innovation Conference</a:t>
            </a:r>
          </a:p>
          <a:p>
            <a:pPr>
              <a:spcAft>
                <a:spcPts val="400"/>
              </a:spcAft>
            </a:pPr>
          </a:p>
          <a:p>
            <a:pPr>
              <a:spcAft>
                <a:spcPts val="600"/>
              </a:spcAft>
              <a:defRPr sz="1400">
                <a:solidFill>
                  <a:srgbClr val="333333"/>
                </a:solidFill>
              </a:defRPr>
            </a:pPr>
            <a:r>
              <a:t>Apr 20-22 | Apr 20-22</a:t>
            </a:r>
            <a:br/>
            <a:r>
              <a:t>Shanghai, China | Shanghai</a:t>
            </a:r>
          </a:p>
          <a:p>
            <a:pPr>
              <a:spcAft>
                <a:spcPts val="400"/>
              </a:spcAft>
            </a:pPr>
          </a:p>
          <a:p>
            <a:pPr>
              <a:spcAft>
                <a:spcPts val="800"/>
              </a:spcAft>
              <a:defRPr sz="2000" b="1">
                <a:solidFill>
                  <a:srgbClr val="2E75B6"/>
                </a:solidFill>
              </a:defRPr>
            </a:pPr>
            <a:r>
              <a:t>### MOU Signing Ceremony</a:t>
            </a:r>
          </a:p>
          <a:p>
            <a:pPr>
              <a:spcAft>
                <a:spcPts val="400"/>
              </a:spcAft>
            </a:pPr>
          </a:p>
          <a:p>
            <a:pPr>
              <a:spcAft>
                <a:spcPts val="400"/>
              </a:spcAft>
              <a:defRPr sz="1400">
                <a:solidFill>
                  <a:srgbClr val="333333"/>
                </a:solidFill>
              </a:defRPr>
            </a:pPr>
            <a:r>
              <a:t>  •  ['MOU signed for ICIC International Cosmetics Innovation Forum on Feb 06, 2026', 'Confirmed as a collaborating institution for the 2026 International Cosmetics Innovation Forum', 'Exclusive management of Korea-China Dermal Section (corporate research project presentations, new product exhibitions, promotions, etc.)', 'Detailed information attached separately']</a:t>
            </a:r>
          </a:p>
          <a:p>
            <a:pPr>
              <a:spcAft>
                <a:spcPts val="400"/>
              </a:spcAft>
            </a:pPr>
          </a:p>
          <a:p>
            <a:pPr>
              <a:spcAft>
                <a:spcPts val="800"/>
              </a:spcAft>
              <a:defRPr sz="2000" b="1">
                <a:solidFill>
                  <a:srgbClr val="2E75B6"/>
                </a:solidFill>
              </a:defRPr>
            </a:pPr>
            <a:r>
              <a:t>## International Industrial Expo Korea-China Forum (Scheduled for Sept 2026)</a:t>
            </a:r>
          </a:p>
          <a:p>
            <a:pPr>
              <a:spcAft>
                <a:spcPts val="400"/>
              </a:spcAft>
            </a:pPr>
          </a:p>
          <a:p>
            <a:pPr>
              <a:spcAft>
                <a:spcPts val="800"/>
              </a:spcAft>
              <a:defRPr sz="2000" b="1">
                <a:solidFill>
                  <a:srgbClr val="2E75B6"/>
                </a:solidFill>
              </a:defRPr>
            </a:pPr>
            <a:r>
              <a:t>### Cosmetics Policy Status and Future Outlook Salon (Scheduled for June 2026)</a:t>
            </a:r>
          </a:p>
          <a:p>
            <a:pPr>
              <a:spcAft>
                <a:spcPts val="400"/>
              </a:spcAft>
            </a:pPr>
          </a:p>
          <a:p>
            <a:pPr>
              <a:spcAft>
                <a:spcPts val="600"/>
              </a:spcAft>
              <a:defRPr sz="1400">
                <a:solidFill>
                  <a:srgbClr val="333333"/>
                </a:solidFill>
              </a:defRPr>
            </a:pPr>
            <a:r>
              <a:t>Shanghai Municipal Commission of Economy and Informatization</a:t>
            </a:r>
            <a:br/>
            <a:r>
              <a:t>Shanghai Municipal Commission of Economy and Informatization (Shanghai Municipal Radio Administration Bureau)</a:t>
            </a:r>
            <a:br/>
            <a:r>
              <a:t>Shanghai Pudong New Area</a:t>
            </a:r>
            <a:br/>
            <a:br/>
            <a:r>
              <a:t>Publishes information related to industrial development and informatization construction, provides service guides, policy information, and industrial technology frontiers.</a:t>
            </a:r>
            <a:br/>
            <a:r>
              <a:t>21 original articles</a:t>
            </a:r>
            <a:br/>
            <a:r>
              <a:t>44 followers</a:t>
            </a:r>
            <a:br/>
            <a:br/>
            <a:r>
              <a:t>Following | Private Message</a:t>
            </a:r>
            <a:br/>
            <a:br/>
            <a:r>
              <a:t>All Article Services</a:t>
            </a:r>
            <a:br/>
            <a:br/>
            <a:r>
              <a:t>Today</a:t>
            </a:r>
            <a:br/>
            <a:r>
              <a:t>Multi-dimensional Record Refresh: When AI and Math 'Deeply Embrace' Smart Hospitals, a Three-Hundred-Year-Old Problem Sees a Groundbreaking Breakthrough.</a:t>
            </a:r>
            <a:br/>
            <a:r>
              <a:t>Reads 356 | Likes 4</a:t>
            </a:r>
          </a:p>
          <a:p>
            <a:pPr>
              <a:spcAft>
                <a:spcPts val="400"/>
              </a:spcAft>
            </a:pPr>
          </a:p>
          <a:p>
            <a:pPr>
              <a:spcAft>
                <a:spcPts val="400"/>
              </a:spcAft>
              <a:defRPr sz="1400">
                <a:solidFill>
                  <a:srgbClr val="333333"/>
                </a:solidFill>
              </a:defRPr>
            </a:pPr>
            <a:r>
              <a:t>  •  ['Linkage with Shanghai Municipal Commission of Economy and Informatization', 'This organization is a government agency responsible for establishing and announcing cosmetics-related policies in Shanghai, playing a crucial role in the development direction of the skin health industry.']</a:t>
            </a:r>
          </a:p>
          <a:p>
            <a:pPr>
              <a:spcAft>
                <a:spcPts val="400"/>
              </a:spcAft>
            </a:pPr>
          </a:p>
          <a:p>
            <a:pPr>
              <a:spcAft>
                <a:spcPts val="800"/>
              </a:spcAft>
              <a:defRPr sz="2000" b="1">
                <a:solidFill>
                  <a:srgbClr val="2E75B6"/>
                </a:solidFill>
              </a:defRPr>
            </a:pPr>
            <a:r>
              <a:t>## Linkage to 2026 Korea-China Industry-Academia-Research Large-scale Joint Project (Scheduled for July 2026)</a:t>
            </a:r>
          </a:p>
          <a:p>
            <a:pPr>
              <a:spcAft>
                <a:spcPts val="400"/>
              </a:spcAft>
            </a:pPr>
          </a:p>
          <a:p>
            <a:pPr>
              <a:spcAft>
                <a:spcPts val="600"/>
              </a:spcAft>
              <a:defRPr sz="1400">
                <a:solidFill>
                  <a:srgbClr val="333333"/>
                </a:solidFill>
              </a:defRPr>
            </a:pPr>
            <a:r>
              <a:t>Ministry of Science and ICT Announcement No. 2025-0737</a:t>
            </a:r>
          </a:p>
          <a:p>
            <a:pPr>
              <a:spcAft>
                <a:spcPts val="400"/>
              </a:spcAft>
            </a:pPr>
          </a:p>
          <a:p>
            <a:pPr>
              <a:spcAft>
                <a:spcPts val="600"/>
              </a:spcAft>
              <a:defRPr sz="1400">
                <a:solidFill>
                  <a:srgbClr val="333333"/>
                </a:solidFill>
              </a:defRPr>
            </a:pPr>
            <a:r>
              <a:t>The Ministry of Science and ICT invites applications for the 2025 'Korea-China Industry-Academia-Research Large-scale Joint Research Project' as follows, to promote mutual development through scientific and technological cooperation and strengthen scientific and technological competitiveness. We encourage interested researchers to apply.</a:t>
            </a:r>
            <a:br/>
            <a:r>
              <a:t>&lt;Supervising Ministry&gt; Ministry of Science and ICT</a:t>
            </a:r>
            <a:br/>
            <a:r>
              <a:t>&lt;Managing Institution&gt; National Research Foundation of Korea</a:t>
            </a:r>
          </a:p>
          <a:p>
            <a:pPr>
              <a:spcAft>
                <a:spcPts val="400"/>
              </a:spcAft>
            </a:pPr>
          </a:p>
          <a:p>
            <a:pPr>
              <a:spcAft>
                <a:spcPts val="800"/>
              </a:spcAft>
              <a:defRPr sz="2000" b="1">
                <a:solidFill>
                  <a:srgbClr val="2E75B6"/>
                </a:solidFill>
              </a:defRPr>
            </a:pPr>
            <a:r>
              <a:t>### 1. Project Objectives</a:t>
            </a:r>
          </a:p>
          <a:p>
            <a:pPr>
              <a:spcAft>
                <a:spcPts val="400"/>
              </a:spcAft>
            </a:pPr>
          </a:p>
          <a:p>
            <a:pPr>
              <a:spcAft>
                <a:spcPts val="400"/>
              </a:spcAft>
              <a:defRPr sz="1400">
                <a:solidFill>
                  <a:srgbClr val="333333"/>
                </a:solidFill>
              </a:defRPr>
            </a:pPr>
            <a:r>
              <a:t>  •  ['Strengthen the scientific and technological competitiveness of both countries by applying and creating industrial outcomes from basic science achievements through large-scale joint industry-academia-research projects with high demand from both countries.', 'Secure global leadership in the scientific and technological field through cooperation initiatives between the two countries and contribute to the realization of an innovative nation.']</a:t>
            </a:r>
          </a:p>
          <a:p>
            <a:pPr>
              <a:spcAft>
                <a:spcPts val="400"/>
              </a:spcAft>
            </a:pPr>
          </a:p>
          <a:p>
            <a:pPr>
              <a:spcAft>
                <a:spcPts val="800"/>
              </a:spcAft>
              <a:defRPr sz="2000" b="1">
                <a:solidFill>
                  <a:srgbClr val="2E75B6"/>
                </a:solidFill>
              </a:defRPr>
            </a:pPr>
            <a:r>
              <a:t>### 2. Supported Fields</a:t>
            </a:r>
          </a:p>
          <a:p>
            <a:pPr>
              <a:spcAft>
                <a:spcPts val="400"/>
              </a:spcAft>
            </a:pPr>
          </a:p>
          <a:p>
            <a:pPr>
              <a:spcAft>
                <a:spcPts val="400"/>
              </a:spcAft>
              <a:defRPr sz="1400">
                <a:solidFill>
                  <a:srgbClr val="333333"/>
                </a:solidFill>
              </a:defRPr>
            </a:pPr>
            <a:r>
              <a:t>  •  ['① BT (Biotechnology)', '② ICT (Information and Communication Technology)', '※ Applicants must consult with Chinese researchers and apply in the same field.']</a:t>
            </a:r>
          </a:p>
          <a:p>
            <a:pPr>
              <a:spcAft>
                <a:spcPts val="400"/>
              </a:spcAft>
            </a:pPr>
          </a:p>
          <a:p>
            <a:pPr>
              <a:spcAft>
                <a:spcPts val="800"/>
              </a:spcAft>
              <a:defRPr sz="2000" b="1">
                <a:solidFill>
                  <a:srgbClr val="2E75B6"/>
                </a:solidFill>
              </a:defRPr>
            </a:pPr>
            <a:r>
              <a:t>### 3. Support Period and Scale</a:t>
            </a:r>
          </a:p>
          <a:p>
            <a:pPr>
              <a:spcAft>
                <a:spcPts val="400"/>
              </a:spcAft>
            </a:pPr>
          </a:p>
          <a:p>
            <a:pPr>
              <a:spcAft>
                <a:spcPts val="400"/>
              </a:spcAft>
              <a:defRPr sz="1400">
                <a:solidFill>
                  <a:srgbClr val="333333"/>
                </a:solidFill>
              </a:defRPr>
            </a:pPr>
            <a:r>
              <a:t>  •  ['□ Number of Selections: 2 projects', '□ Support Scale: KRW 500 million per project per year', '※ The support amount is the total funding including indirect costs, and indirect costs are classified as other expenses.', '※ Chinese researchers will receive matching funds from the Ministry of Science and Technology of China.', '□ Support Period: 3 years', '□ Project Start: After November 2025']</a:t>
            </a:r>
          </a:p>
          <a:p>
            <a:pPr>
              <a:spcAft>
                <a:spcPts val="400"/>
              </a:spcAft>
            </a:pPr>
          </a:p>
          <a:p>
            <a:pPr>
              <a:spcAft>
                <a:spcPts val="600"/>
              </a:spcAft>
              <a:defRPr sz="1200">
                <a:solidFill>
                  <a:srgbClr val="333333"/>
                </a:solidFill>
              </a:defRPr>
            </a:pPr>
            <a:r>
              <a:t>| Project Proposal Submission | Selection Evaluation | Project Selection | Project Selection Announcement |</a:t>
            </a:r>
            <a:br/>
            <a:r>
              <a:t>|---|---|---|---|</a:t>
            </a:r>
            <a:br/>
            <a:r>
              <a:t>| Principal Research Institution (Applicant) | Managing Institution | Selection in cooperation between both countries based on evaluation results (Ministry of Science and ICT, Korea / Ministry of Science and Technology, China) | Ministry of Science and ICT / National Research Foundation of Korea |</a:t>
            </a:r>
          </a:p>
          <a:p>
            <a:pPr>
              <a:spcAft>
                <a:spcPts val="400"/>
              </a:spcAft>
            </a:pPr>
          </a:p>
          <a:p>
            <a:pPr>
              <a:spcAft>
                <a:spcPts val="600"/>
              </a:spcAft>
              <a:defRPr sz="1400">
                <a:solidFill>
                  <a:srgbClr val="333333"/>
                </a:solidFill>
              </a:defRPr>
            </a:pPr>
            <a:r>
              <a:t>※ New projects are finally selected by agreement between the governments of Korea and China.</a:t>
            </a:r>
          </a:p>
          <a:p>
            <a:pPr>
              <a:spcAft>
                <a:spcPts val="400"/>
              </a:spcAft>
            </a:pPr>
          </a:p>
          <a:p>
            <a:pPr>
              <a:spcAft>
                <a:spcPts val="800"/>
              </a:spcAft>
              <a:defRPr sz="2000" b="1">
                <a:solidFill>
                  <a:srgbClr val="2E75B6"/>
                </a:solidFill>
              </a:defRPr>
            </a:pPr>
            <a:r>
              <a:t>### 4. Selection Evaluation Procedure and Criteria</a:t>
            </a:r>
          </a:p>
          <a:p>
            <a:pPr>
              <a:spcAft>
                <a:spcPts val="400"/>
              </a:spcAft>
            </a:pPr>
          </a:p>
          <a:p>
            <a:pPr>
              <a:spcAft>
                <a:spcPts val="400"/>
              </a:spcAft>
              <a:defRPr sz="1400">
                <a:solidFill>
                  <a:srgbClr val="333333"/>
                </a:solidFill>
              </a:defRPr>
            </a:pPr>
            <a:r>
              <a:t>  •  ['□ Evaluation Procedure', '※ Presentation Evaluation', '※ The presentation evaluation schedule will be announced separately after the application deadline.', '□ Evaluation Criteria', 'o Necessity of Joint Research', 'o Appropriateness of Joint Research Goals and Implementation Plan', 'o Research Competence of Principal Investigator', 'o Appropriateness of Research Team Composition', 'o Potential for Development of Cooperation Network between Both Countries', 'o Expected Outcomes and Appropriateness of Commercialization Plan, etc.', '※ The above evaluation criteria are subject to change according to the evaluation plan.']</a:t>
            </a:r>
          </a:p>
          <a:p>
            <a:pPr>
              <a:spcAft>
                <a:spcPts val="400"/>
              </a:spcAft>
            </a:pPr>
          </a:p>
          <a:p>
            <a:pPr>
              <a:spcAft>
                <a:spcPts val="800"/>
              </a:spcAft>
              <a:defRPr sz="2000" b="1">
                <a:solidFill>
                  <a:srgbClr val="2E75B6"/>
                </a:solidFill>
              </a:defRPr>
            </a:pPr>
            <a:r>
              <a:t>### 5. Project Structure</a:t>
            </a:r>
          </a:p>
          <a:p>
            <a:pPr>
              <a:spcAft>
                <a:spcPts val="400"/>
              </a:spcAft>
            </a:pPr>
          </a:p>
          <a:p>
            <a:pPr>
              <a:spcAft>
                <a:spcPts val="400"/>
              </a:spcAft>
              <a:defRPr sz="1400">
                <a:solidFill>
                  <a:srgbClr val="333333"/>
                </a:solidFill>
              </a:defRPr>
            </a:pPr>
            <a:r>
              <a:t>  •  ['□ Project Structure: Composed of a principal project and two joint/consignment projects.', 'o Formation of a consortium centered around the principal research and development institution, with participation from universities, research institutes, and companies.', '※ Formation of a consortium involving all three types of institutions (universities, research institutes, companies) is mandatory.', '□ Principal Research and Development Institutions: Universities, national/public research institutes, government-funded research institutes, etc. (Korean side)', "※ Institutions as specified in Article 2, Paragraph 3, Sub-paragraphs (a) through (f) of the 'National Research and Development Innovation Act'.", 'o Research Fund Allocation: The principal research and development institution (principal investigator) cannot allocate more than 50% of the government contribution to joint research institutions (co-principal investigators).']</a:t>
            </a:r>
          </a:p>
          <a:p>
            <a:pPr>
              <a:spcAft>
                <a:spcPts val="400"/>
              </a:spcAft>
            </a:pPr>
          </a:p>
          <a:p>
            <a:pPr>
              <a:spcAft>
                <a:spcPts val="800"/>
              </a:spcAft>
              <a:defRPr sz="2000" b="1">
                <a:solidFill>
                  <a:srgbClr val="2E75B6"/>
                </a:solidFill>
              </a:defRPr>
            </a:pPr>
            <a:r>
              <a:t>## Linkage with Chinese Society of Dermatology, Exhibition Booth, and Lectures (Under discussion)</a:t>
            </a:r>
          </a:p>
          <a:p>
            <a:pPr>
              <a:spcAft>
                <a:spcPts val="400"/>
              </a:spcAft>
            </a:pPr>
          </a:p>
          <a:p>
            <a:pPr>
              <a:spcAft>
                <a:spcPts val="400"/>
              </a:spcAft>
              <a:defRPr sz="1400">
                <a:solidFill>
                  <a:srgbClr val="333333"/>
                </a:solidFill>
              </a:defRPr>
            </a:pPr>
            <a:r>
              <a:t>  •  ['CMEA', 'CAIM (Chinese Association of Integrative Medicine)', 'SPPA']</a:t>
            </a:r>
          </a:p>
        </p:txBody>
      </p:sp>
      <p:sp>
        <p:nvSpPr>
          <p:cNvPr id="4" name="TextBox 3"/>
          <p:cNvSpPr txBox="1"/>
          <p:nvPr/>
        </p:nvSpPr>
        <p:spPr>
          <a:xfrm>
            <a:off x="10972800" y="6400800"/>
            <a:ext cx="914400" cy="365760"/>
          </a:xfrm>
          <a:prstGeom prst="rect">
            <a:avLst/>
          </a:prstGeom>
          <a:noFill/>
        </p:spPr>
        <p:txBody>
          <a:bodyPr wrap="none">
            <a:spAutoFit/>
          </a:bodyPr>
          <a:lstStyle/>
          <a:p>
            <a:pPr algn="r">
              <a:defRPr sz="1000">
                <a:solidFill>
                  <a:srgbClr val="999999"/>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698480" cy="1097280"/>
          </a:xfrm>
          <a:prstGeom prst="rect">
            <a:avLst/>
          </a:prstGeom>
          <a:noFill/>
        </p:spPr>
        <p:txBody>
          <a:bodyPr wrap="square">
            <a:spAutoFit/>
          </a:bodyPr>
          <a:lstStyle/>
          <a:p>
            <a:pPr algn="l">
              <a:defRPr sz="2800" b="1">
                <a:solidFill>
                  <a:srgbClr val="1F4E79"/>
                </a:solidFill>
              </a:defRPr>
            </a:pPr>
            <a:r>
              <a:t>Association List (March 1, 2026)</a:t>
            </a:r>
          </a:p>
        </p:txBody>
      </p:sp>
      <p:sp>
        <p:nvSpPr>
          <p:cNvPr id="3" name="TextBox 2"/>
          <p:cNvSpPr txBox="1"/>
          <p:nvPr/>
        </p:nvSpPr>
        <p:spPr>
          <a:xfrm>
            <a:off x="731520" y="1371600"/>
            <a:ext cx="10698480" cy="5029200"/>
          </a:xfrm>
          <a:prstGeom prst="rect">
            <a:avLst/>
          </a:prstGeom>
          <a:noFill/>
        </p:spPr>
        <p:txBody>
          <a:bodyPr wrap="square">
            <a:spAutoFit/>
          </a:bodyPr>
          <a:lstStyle/>
          <a:p>
            <a:pPr>
              <a:spcAft>
                <a:spcPts val="600"/>
              </a:spcAft>
              <a:defRPr sz="1400">
                <a:solidFill>
                  <a:srgbClr val="333333"/>
                </a:solidFill>
              </a:defRPr>
            </a:pPr>
            <a:r>
              <a:t>Korea Skin Health Industry Association (KSHIA)</a:t>
            </a:r>
            <a:br/>
            <a:r>
              <a:t>2026</a:t>
            </a:r>
            <a:br/>
            <a:r>
              <a:t>SHANGHAI, China</a:t>
            </a:r>
          </a:p>
          <a:p>
            <a:pPr>
              <a:spcAft>
                <a:spcPts val="400"/>
              </a:spcAft>
            </a:pPr>
          </a:p>
          <a:p>
            <a:pPr>
              <a:spcAft>
                <a:spcPts val="800"/>
              </a:spcAft>
              <a:defRPr sz="2000" b="1">
                <a:solidFill>
                  <a:srgbClr val="2E75B6"/>
                </a:solidFill>
              </a:defRPr>
            </a:pPr>
            <a:r>
              <a:t>### Partner Institutions :</a:t>
            </a:r>
          </a:p>
          <a:p>
            <a:pPr>
              <a:spcAft>
                <a:spcPts val="400"/>
              </a:spcAft>
            </a:pPr>
          </a:p>
          <a:p>
            <a:pPr>
              <a:spcAft>
                <a:spcPts val="400"/>
              </a:spcAft>
              <a:defRPr sz="1400">
                <a:solidFill>
                  <a:srgbClr val="333333"/>
                </a:solidFill>
              </a:defRPr>
            </a:pPr>
            <a:r>
              <a:t>  •  Korean Chamber of Commerce in Shanghai (Korean Association in Shanghai)</a:t>
            </a:r>
          </a:p>
          <a:p>
            <a:pPr>
              <a:spcAft>
                <a:spcPts val="400"/>
              </a:spcAft>
              <a:defRPr sz="1400">
                <a:solidFill>
                  <a:srgbClr val="333333"/>
                </a:solidFill>
              </a:defRPr>
            </a:pPr>
            <a:r>
              <a:t>  •  Korea Health Industry Development Institute (KHIDI) China Office</a:t>
            </a:r>
          </a:p>
          <a:p>
            <a:pPr>
              <a:spcAft>
                <a:spcPts val="400"/>
              </a:spcAft>
              <a:defRPr sz="1400">
                <a:solidFill>
                  <a:srgbClr val="333333"/>
                </a:solidFill>
              </a:defRPr>
            </a:pPr>
            <a:r>
              <a:t>  •  Fudan University Institute of Biomedical Engineering and Technology Innovation, Shanghai</a:t>
            </a:r>
          </a:p>
          <a:p>
            <a:pPr>
              <a:spcAft>
                <a:spcPts val="400"/>
              </a:spcAft>
              <a:defRPr sz="1400">
                <a:solidFill>
                  <a:srgbClr val="333333"/>
                </a:solidFill>
              </a:defRPr>
            </a:pPr>
            <a:r>
              <a:t>  •  Skin Research Translation Center, Yangtze River Delta Institute of Science and Technology, Fudan University, Shanghai</a:t>
            </a:r>
          </a:p>
          <a:p>
            <a:pPr>
              <a:spcAft>
                <a:spcPts val="400"/>
              </a:spcAft>
              <a:defRPr sz="1400">
                <a:solidFill>
                  <a:srgbClr val="333333"/>
                </a:solidFill>
              </a:defRPr>
            </a:pPr>
            <a:r>
              <a:t>  •  Department of Dermatology and Medical Aesthetics, Shanghai Yueyang Hospital of Integrated Traditional Chinese and Western Medicine</a:t>
            </a:r>
          </a:p>
          <a:p>
            <a:pPr>
              <a:spcAft>
                <a:spcPts val="400"/>
              </a:spcAft>
              <a:defRPr sz="1400">
                <a:solidFill>
                  <a:srgbClr val="333333"/>
                </a:solidFill>
              </a:defRPr>
            </a:pPr>
            <a:r>
              <a:t>  •  Shanghai Skin Health Concept Validation Center</a:t>
            </a:r>
          </a:p>
          <a:p>
            <a:pPr>
              <a:spcAft>
                <a:spcPts val="400"/>
              </a:spcAft>
              <a:defRPr sz="1400">
                <a:solidFill>
                  <a:srgbClr val="333333"/>
                </a:solidFill>
              </a:defRPr>
            </a:pPr>
            <a:r>
              <a:t>  •  Shanghai Dongfang Meiguo Skin Science Research Institute</a:t>
            </a:r>
          </a:p>
          <a:p>
            <a:pPr>
              <a:spcAft>
                <a:spcPts val="400"/>
              </a:spcAft>
              <a:defRPr sz="1400">
                <a:solidFill>
                  <a:srgbClr val="333333"/>
                </a:solidFill>
              </a:defRPr>
            </a:pPr>
            <a:r>
              <a:t>  •  Institute of Dermatology, Shanghai Academy of Traditional Chinese Medicine</a:t>
            </a:r>
          </a:p>
          <a:p>
            <a:pPr>
              <a:spcAft>
                <a:spcPts val="400"/>
              </a:spcAft>
              <a:defRPr sz="1400">
                <a:solidFill>
                  <a:srgbClr val="333333"/>
                </a:solidFill>
              </a:defRPr>
            </a:pPr>
            <a:r>
              <a:t>  •  ICIC International Cosmetics Innovation Conference</a:t>
            </a:r>
          </a:p>
          <a:p>
            <a:pPr>
              <a:spcAft>
                <a:spcPts val="400"/>
              </a:spcAft>
              <a:defRPr sz="1400">
                <a:solidFill>
                  <a:srgbClr val="333333"/>
                </a:solidFill>
              </a:defRPr>
            </a:pPr>
            <a:r>
              <a:t>  •  Korean Women Entrepreneurs Association in Shanghai &amp; East China</a:t>
            </a:r>
          </a:p>
          <a:p>
            <a:pPr>
              <a:spcAft>
                <a:spcPts val="400"/>
              </a:spcAft>
              <a:defRPr sz="1400">
                <a:solidFill>
                  <a:srgbClr val="333333"/>
                </a:solidFill>
              </a:defRPr>
            </a:pPr>
            <a:r>
              <a:t>  •  Shanghai &amp; East China IT Enterprise Association</a:t>
            </a:r>
          </a:p>
          <a:p>
            <a:pPr>
              <a:spcAft>
                <a:spcPts val="400"/>
              </a:spcAft>
            </a:pPr>
          </a:p>
          <a:p>
            <a:pPr>
              <a:spcAft>
                <a:spcPts val="800"/>
              </a:spcAft>
              <a:defRPr sz="2000" b="1">
                <a:solidFill>
                  <a:srgbClr val="2E75B6"/>
                </a:solidFill>
              </a:defRPr>
            </a:pPr>
            <a:r>
              <a:t>### Partner Companies :</a:t>
            </a:r>
          </a:p>
          <a:p>
            <a:pPr>
              <a:spcAft>
                <a:spcPts val="400"/>
              </a:spcAft>
            </a:pPr>
          </a:p>
          <a:p>
            <a:pPr>
              <a:spcAft>
                <a:spcPts val="400"/>
              </a:spcAft>
              <a:defRPr sz="1400">
                <a:solidFill>
                  <a:srgbClr val="333333"/>
                </a:solidFill>
              </a:defRPr>
            </a:pPr>
            <a:r>
              <a:t>  •  Wuxi Kolmar</a:t>
            </a:r>
          </a:p>
          <a:p>
            <a:pPr>
              <a:spcAft>
                <a:spcPts val="400"/>
              </a:spcAft>
              <a:defRPr sz="1400">
                <a:solidFill>
                  <a:srgbClr val="333333"/>
                </a:solidFill>
              </a:defRPr>
            </a:pPr>
            <a:r>
              <a:t>  •  Songhan Innovation Park</a:t>
            </a:r>
          </a:p>
          <a:p>
            <a:pPr>
              <a:spcAft>
                <a:spcPts val="400"/>
              </a:spcAft>
              <a:defRPr sz="1400">
                <a:solidFill>
                  <a:srgbClr val="333333"/>
                </a:solidFill>
              </a:defRPr>
            </a:pPr>
            <a:r>
              <a:t>  •  CML LAB</a:t>
            </a:r>
          </a:p>
          <a:p>
            <a:pPr>
              <a:spcAft>
                <a:spcPts val="400"/>
              </a:spcAft>
              <a:defRPr sz="1400">
                <a:solidFill>
                  <a:srgbClr val="333333"/>
                </a:solidFill>
              </a:defRPr>
            </a:pPr>
            <a:r>
              <a:t>  •  Juno Hair</a:t>
            </a:r>
          </a:p>
          <a:p>
            <a:pPr>
              <a:spcAft>
                <a:spcPts val="400"/>
              </a:spcAft>
              <a:defRPr sz="1400">
                <a:solidFill>
                  <a:srgbClr val="333333"/>
                </a:solidFill>
              </a:defRPr>
            </a:pPr>
            <a:r>
              <a:t>  •  Jinsana Global Co., Ltd.</a:t>
            </a:r>
          </a:p>
          <a:p>
            <a:pPr>
              <a:spcAft>
                <a:spcPts val="400"/>
              </a:spcAft>
              <a:defRPr sz="1400">
                <a:solidFill>
                  <a:srgbClr val="333333"/>
                </a:solidFill>
              </a:defRPr>
            </a:pPr>
            <a:r>
              <a:t>  •  Shanghai Fushu Intelligent Medical Technology Co., Ltd.</a:t>
            </a:r>
          </a:p>
          <a:p>
            <a:pPr>
              <a:spcAft>
                <a:spcPts val="400"/>
              </a:spcAft>
              <a:defRPr sz="1400">
                <a:solidFill>
                  <a:srgbClr val="333333"/>
                </a:solidFill>
              </a:defRPr>
            </a:pPr>
            <a:r>
              <a:t>  •  Recool Medical Technology Co., Ltd.</a:t>
            </a:r>
          </a:p>
          <a:p>
            <a:pPr>
              <a:spcAft>
                <a:spcPts val="400"/>
              </a:spcAft>
              <a:defRPr sz="1400">
                <a:solidFill>
                  <a:srgbClr val="333333"/>
                </a:solidFill>
              </a:defRPr>
            </a:pPr>
            <a:r>
              <a:t>  •  Shanghai Kangxinju Pharmaceutical Technology Co., Ltd.</a:t>
            </a:r>
          </a:p>
          <a:p>
            <a:pPr>
              <a:spcAft>
                <a:spcPts val="400"/>
              </a:spcAft>
              <a:defRPr sz="1400">
                <a:solidFill>
                  <a:srgbClr val="333333"/>
                </a:solidFill>
              </a:defRPr>
            </a:pPr>
            <a:r>
              <a:t>  •  Jiaxing Huizhou Packaging Technology Co., Ltd.</a:t>
            </a:r>
          </a:p>
          <a:p>
            <a:pPr>
              <a:spcAft>
                <a:spcPts val="400"/>
              </a:spcAft>
              <a:defRPr sz="1400">
                <a:solidFill>
                  <a:srgbClr val="333333"/>
                </a:solidFill>
              </a:defRPr>
            </a:pPr>
            <a:r>
              <a:t>  •  Kanglilai (Shanghai) Pharmaceutical Technology Co., Ltd.</a:t>
            </a:r>
          </a:p>
          <a:p>
            <a:pPr>
              <a:spcAft>
                <a:spcPts val="400"/>
              </a:spcAft>
              <a:defRPr sz="1400">
                <a:solidFill>
                  <a:srgbClr val="333333"/>
                </a:solidFill>
              </a:defRPr>
            </a:pPr>
            <a:r>
              <a:t>  •  Shanghai Skinworld Clinical Testing &amp; Technology Research Co., Ltd.</a:t>
            </a:r>
          </a:p>
          <a:p>
            <a:pPr>
              <a:spcAft>
                <a:spcPts val="400"/>
              </a:spcAft>
              <a:defRPr sz="1400">
                <a:solidFill>
                  <a:srgbClr val="333333"/>
                </a:solidFill>
              </a:defRPr>
            </a:pPr>
            <a:r>
              <a:t>  •  Futurity Consulting Co., Ltd.</a:t>
            </a:r>
          </a:p>
          <a:p>
            <a:pPr>
              <a:spcAft>
                <a:spcPts val="400"/>
              </a:spcAft>
              <a:defRPr sz="1400">
                <a:solidFill>
                  <a:srgbClr val="333333"/>
                </a:solidFill>
              </a:defRPr>
            </a:pPr>
            <a:r>
              <a:t>  •  A Round Ent</a:t>
            </a:r>
          </a:p>
          <a:p>
            <a:pPr>
              <a:spcAft>
                <a:spcPts val="400"/>
              </a:spcAft>
              <a:defRPr sz="1400">
                <a:solidFill>
                  <a:srgbClr val="333333"/>
                </a:solidFill>
              </a:defRPr>
            </a:pPr>
            <a:r>
              <a:t>  •  Y&amp;Y Automotive Electronics</a:t>
            </a:r>
          </a:p>
        </p:txBody>
      </p:sp>
      <p:sp>
        <p:nvSpPr>
          <p:cNvPr id="4" name="TextBox 3"/>
          <p:cNvSpPr txBox="1"/>
          <p:nvPr/>
        </p:nvSpPr>
        <p:spPr>
          <a:xfrm>
            <a:off x="10972800" y="6400800"/>
            <a:ext cx="914400" cy="365760"/>
          </a:xfrm>
          <a:prstGeom prst="rect">
            <a:avLst/>
          </a:prstGeom>
          <a:noFill/>
        </p:spPr>
        <p:txBody>
          <a:bodyPr wrap="none">
            <a:spAutoFit/>
          </a:bodyPr>
          <a:lstStyle/>
          <a:p>
            <a:pPr algn="r">
              <a:defRPr sz="1000">
                <a:solidFill>
                  <a:srgbClr val="999999"/>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698480" cy="1097280"/>
          </a:xfrm>
          <a:prstGeom prst="rect">
            <a:avLst/>
          </a:prstGeom>
          <a:noFill/>
        </p:spPr>
        <p:txBody>
          <a:bodyPr wrap="square">
            <a:spAutoFit/>
          </a:bodyPr>
          <a:lstStyle/>
          <a:p>
            <a:pPr algn="l">
              <a:defRPr sz="2800" b="1">
                <a:solidFill>
                  <a:srgbClr val="1F4E79"/>
                </a:solidFill>
              </a:defRPr>
            </a:pPr>
            <a:r>
              <a:t>Korea Skin Health Industry Association (KSHIA)</a:t>
            </a:r>
          </a:p>
        </p:txBody>
      </p:sp>
      <p:sp>
        <p:nvSpPr>
          <p:cNvPr id="3" name="TextBox 2"/>
          <p:cNvSpPr txBox="1"/>
          <p:nvPr/>
        </p:nvSpPr>
        <p:spPr>
          <a:xfrm>
            <a:off x="731520" y="1371600"/>
            <a:ext cx="10698480" cy="5029200"/>
          </a:xfrm>
          <a:prstGeom prst="rect">
            <a:avLst/>
          </a:prstGeom>
          <a:noFill/>
        </p:spPr>
        <p:txBody>
          <a:bodyPr wrap="square">
            <a:spAutoFit/>
          </a:bodyPr>
          <a:lstStyle/>
          <a:p>
            <a:pPr>
              <a:spcAft>
                <a:spcPts val="800"/>
              </a:spcAft>
              <a:defRPr sz="2000" b="1">
                <a:solidFill>
                  <a:srgbClr val="2E75B6"/>
                </a:solidFill>
              </a:defRPr>
            </a:pPr>
            <a:r>
              <a:t>2026 SHANGHAI, China</a:t>
            </a:r>
          </a:p>
          <a:p>
            <a:pPr>
              <a:spcAft>
                <a:spcPts val="400"/>
              </a:spcAft>
            </a:pPr>
          </a:p>
          <a:p>
            <a:pPr>
              <a:spcAft>
                <a:spcPts val="600"/>
              </a:spcAft>
              <a:defRPr sz="1400">
                <a:solidFill>
                  <a:srgbClr val="333333"/>
                </a:solidFill>
              </a:defRPr>
            </a:pPr>
            <a:r>
              <a:t>Email: seokgyeong@shutcm.edu.cn</a:t>
            </a:r>
          </a:p>
          <a:p>
            <a:pPr>
              <a:spcAft>
                <a:spcPts val="400"/>
              </a:spcAft>
            </a:pPr>
          </a:p>
          <a:p>
            <a:pPr>
              <a:spcAft>
                <a:spcPts val="600"/>
              </a:spcAft>
              <a:defRPr sz="1400">
                <a:solidFill>
                  <a:srgbClr val="333333"/>
                </a:solidFill>
              </a:defRPr>
            </a:pPr>
            <a:r>
              <a:t>jeomi0604@naver.com</a:t>
            </a:r>
          </a:p>
          <a:p>
            <a:pPr>
              <a:spcAft>
                <a:spcPts val="400"/>
              </a:spcAft>
            </a:pPr>
          </a:p>
          <a:p>
            <a:pPr>
              <a:spcAft>
                <a:spcPts val="600"/>
              </a:spcAft>
              <a:defRPr sz="1400">
                <a:solidFill>
                  <a:srgbClr val="333333"/>
                </a:solidFill>
              </a:defRPr>
            </a:pPr>
            <a:r>
              <a:t>Address: 3rd Floor, No. 998 Hongquan Road, near Yinting Road, Minhang District, Shanghai</a:t>
            </a:r>
          </a:p>
          <a:p>
            <a:pPr>
              <a:spcAft>
                <a:spcPts val="400"/>
              </a:spcAft>
            </a:pPr>
          </a:p>
          <a:p>
            <a:pPr>
              <a:spcAft>
                <a:spcPts val="600"/>
              </a:spcAft>
              <a:defRPr sz="1400">
                <a:solidFill>
                  <a:srgbClr val="333333"/>
                </a:solidFill>
              </a:defRPr>
            </a:pPr>
            <a:r>
              <a:t>3rd floor, near Yinting Road, 998 Hongquan Road,</a:t>
            </a:r>
          </a:p>
          <a:p>
            <a:pPr>
              <a:spcAft>
                <a:spcPts val="400"/>
              </a:spcAft>
            </a:pPr>
          </a:p>
          <a:p>
            <a:pPr>
              <a:spcAft>
                <a:spcPts val="600"/>
              </a:spcAft>
              <a:defRPr sz="1400">
                <a:solidFill>
                  <a:srgbClr val="333333"/>
                </a:solidFill>
              </a:defRPr>
            </a:pPr>
            <a:r>
              <a:t>Minhang District, Shanghai</a:t>
            </a:r>
          </a:p>
          <a:p>
            <a:pPr>
              <a:spcAft>
                <a:spcPts val="400"/>
              </a:spcAft>
            </a:pPr>
          </a:p>
          <a:p>
            <a:pPr>
              <a:spcAft>
                <a:spcPts val="600"/>
              </a:spcAft>
              <a:defRPr sz="1400">
                <a:solidFill>
                  <a:srgbClr val="333333"/>
                </a:solidFill>
              </a:defRPr>
            </a:pPr>
            <a:r>
              <a:t>WeChat Official Account</a:t>
            </a:r>
          </a:p>
          <a:p>
            <a:pPr>
              <a:spcAft>
                <a:spcPts val="400"/>
              </a:spcAft>
            </a:pPr>
          </a:p>
          <a:p>
            <a:pPr>
              <a:spcAft>
                <a:spcPts val="600"/>
              </a:spcAft>
              <a:defRPr sz="1400">
                <a:solidFill>
                  <a:srgbClr val="333333"/>
                </a:solidFill>
              </a:defRPr>
            </a:pPr>
            <a:r>
              <a:t>@KSHIA</a:t>
            </a:r>
          </a:p>
        </p:txBody>
      </p:sp>
      <p:sp>
        <p:nvSpPr>
          <p:cNvPr id="4" name="TextBox 3"/>
          <p:cNvSpPr txBox="1"/>
          <p:nvPr/>
        </p:nvSpPr>
        <p:spPr>
          <a:xfrm>
            <a:off x="10972800" y="6400800"/>
            <a:ext cx="914400" cy="365760"/>
          </a:xfrm>
          <a:prstGeom prst="rect">
            <a:avLst/>
          </a:prstGeom>
          <a:noFill/>
        </p:spPr>
        <p:txBody>
          <a:bodyPr wrap="none">
            <a:spAutoFit/>
          </a:bodyPr>
          <a:lstStyle/>
          <a:p>
            <a:pPr algn="r">
              <a:defRPr sz="1000">
                <a:solidFill>
                  <a:srgbClr val="999999"/>
                </a:solidFill>
              </a:defRPr>
            </a:pPr>
            <a: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